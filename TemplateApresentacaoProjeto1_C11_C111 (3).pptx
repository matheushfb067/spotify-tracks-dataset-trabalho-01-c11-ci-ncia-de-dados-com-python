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517d515bbcd02d12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h517d515bbcd02d12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517d515bbcd02d1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h517d515bbcd02d12_1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517d515bbcd02d12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h517d515bbcd02d12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6f3d8a350d647d0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h6f3d8a350d647d0f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6f3d8a350d647d0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h6f3d8a350d647d0f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517d515bbcd02d12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h517d515bbcd02d12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6f3d8a350d647d0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h6f3d8a350d647d0f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6f3d8a350d647d0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h6f3d8a350d647d0f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6f3d8a350d647d0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h6f3d8a350d647d0f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hyperlink" Target="https://www.kaggle.com/datasets/maharshipandya/-spotify-tracks-dataset" TargetMode="External"/><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18.png"/><Relationship Id="rId7"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a:off x="0" y="0"/>
            <a:ext cx="12192000" cy="6858001"/>
          </a:xfrm>
          <a:prstGeom prst="rect">
            <a:avLst/>
          </a:prstGeom>
          <a:noFill/>
          <a:ln>
            <a:noFill/>
          </a:ln>
        </p:spPr>
      </p:pic>
      <p:sp>
        <p:nvSpPr>
          <p:cNvPr id="85" name="Google Shape;85;p13"/>
          <p:cNvSpPr txBox="1"/>
          <p:nvPr/>
        </p:nvSpPr>
        <p:spPr>
          <a:xfrm>
            <a:off x="596899" y="2474893"/>
            <a:ext cx="109983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pt-BR" sz="2800" u="none" cap="none" strike="noStrike">
                <a:solidFill>
                  <a:schemeClr val="dk1"/>
                </a:solidFill>
                <a:latin typeface="Calibri"/>
                <a:ea typeface="Calibri"/>
                <a:cs typeface="Calibri"/>
                <a:sym typeface="Calibri"/>
              </a:rPr>
              <a:t>Projeto I – C11</a:t>
            </a:r>
            <a:endParaRPr/>
          </a:p>
          <a:p>
            <a:pPr indent="0" lvl="0" marL="0" marR="0" rtl="0" algn="ctr">
              <a:spcBef>
                <a:spcPts val="0"/>
              </a:spcBef>
              <a:spcAft>
                <a:spcPts val="0"/>
              </a:spcAft>
              <a:buNone/>
            </a:pPr>
            <a:r>
              <a:rPr b="1" i="0" lang="pt-BR" sz="2800" u="none" cap="none" strike="noStrike">
                <a:solidFill>
                  <a:schemeClr val="dk1"/>
                </a:solidFill>
                <a:latin typeface="Calibri"/>
                <a:ea typeface="Calibri"/>
                <a:cs typeface="Calibri"/>
                <a:sym typeface="Calibri"/>
              </a:rPr>
              <a:t>Apresentação dos Resultados</a:t>
            </a:r>
            <a:endParaRPr/>
          </a:p>
        </p:txBody>
      </p:sp>
      <p:sp>
        <p:nvSpPr>
          <p:cNvPr id="86" name="Google Shape;86;p13"/>
          <p:cNvSpPr txBox="1"/>
          <p:nvPr/>
        </p:nvSpPr>
        <p:spPr>
          <a:xfrm>
            <a:off x="3869265" y="3595569"/>
            <a:ext cx="4453500" cy="230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pt-BR" sz="1800" u="none" cap="none" strike="noStrike">
                <a:solidFill>
                  <a:schemeClr val="dk1"/>
                </a:solidFill>
                <a:latin typeface="Calibri"/>
                <a:ea typeface="Calibri"/>
                <a:cs typeface="Calibri"/>
                <a:sym typeface="Calibri"/>
              </a:rPr>
              <a:t>Nome do </a:t>
            </a:r>
            <a:r>
              <a:rPr b="1" i="1" lang="pt-BR" sz="1800" u="none" cap="none" strike="noStrike">
                <a:solidFill>
                  <a:schemeClr val="dk1"/>
                </a:solidFill>
                <a:latin typeface="Calibri"/>
                <a:ea typeface="Calibri"/>
                <a:cs typeface="Calibri"/>
                <a:sym typeface="Calibri"/>
              </a:rPr>
              <a:t>Dataset</a:t>
            </a:r>
            <a:r>
              <a:rPr b="1" i="0" lang="pt-BR" sz="1800" u="none" cap="none" strike="noStrike">
                <a:solidFill>
                  <a:schemeClr val="dk1"/>
                </a:solidFill>
                <a:latin typeface="Calibri"/>
                <a:ea typeface="Calibri"/>
                <a:cs typeface="Calibri"/>
                <a:sym typeface="Calibri"/>
              </a:rPr>
              <a:t>:</a:t>
            </a:r>
            <a:endParaRPr/>
          </a:p>
          <a:p>
            <a:pPr indent="0" lvl="0" marL="0" marR="0" rtl="0" algn="ctr">
              <a:spcBef>
                <a:spcPts val="0"/>
              </a:spcBef>
              <a:spcAft>
                <a:spcPts val="0"/>
              </a:spcAft>
              <a:buNone/>
            </a:pPr>
            <a:r>
              <a:rPr lang="pt-BR" sz="1800">
                <a:solidFill>
                  <a:srgbClr val="0070C0"/>
                </a:solidFill>
                <a:latin typeface="Calibri"/>
                <a:ea typeface="Calibri"/>
                <a:cs typeface="Calibri"/>
                <a:sym typeface="Calibri"/>
              </a:rPr>
              <a:t>Spotify Tracks Dataset</a:t>
            </a:r>
            <a:endParaRPr/>
          </a:p>
          <a:p>
            <a:pPr indent="0" lvl="0" marL="0" marR="0" rtl="0" algn="ctr">
              <a:spcBef>
                <a:spcPts val="0"/>
              </a:spcBef>
              <a:spcAft>
                <a:spcPts val="0"/>
              </a:spcAft>
              <a:buNone/>
            </a:pPr>
            <a:r>
              <a:t/>
            </a:r>
            <a:endParaRPr b="1"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pt-BR" sz="1800" u="none" cap="none" strike="noStrike">
                <a:solidFill>
                  <a:schemeClr val="dk1"/>
                </a:solidFill>
                <a:latin typeface="Calibri"/>
                <a:ea typeface="Calibri"/>
                <a:cs typeface="Calibri"/>
                <a:sym typeface="Calibri"/>
              </a:rPr>
              <a:t>Equipe:</a:t>
            </a:r>
            <a:endParaRPr/>
          </a:p>
          <a:p>
            <a:pPr indent="0" lvl="0" marL="0" marR="0" rtl="0" algn="ctr">
              <a:spcBef>
                <a:spcPts val="0"/>
              </a:spcBef>
              <a:spcAft>
                <a:spcPts val="0"/>
              </a:spcAft>
              <a:buNone/>
            </a:pPr>
            <a:r>
              <a:rPr lang="pt-BR" sz="1800">
                <a:solidFill>
                  <a:srgbClr val="0070C0"/>
                </a:solidFill>
                <a:latin typeface="Calibri"/>
                <a:ea typeface="Calibri"/>
                <a:cs typeface="Calibri"/>
                <a:sym typeface="Calibri"/>
              </a:rPr>
              <a:t>Mariana Moreira Souza </a:t>
            </a:r>
            <a:r>
              <a:rPr b="0" i="0" lang="pt-BR" sz="1800" u="none" cap="none" strike="noStrike">
                <a:solidFill>
                  <a:srgbClr val="0070C0"/>
                </a:solidFill>
                <a:latin typeface="Calibri"/>
                <a:ea typeface="Calibri"/>
                <a:cs typeface="Calibri"/>
                <a:sym typeface="Calibri"/>
              </a:rPr>
              <a:t>– </a:t>
            </a:r>
            <a:r>
              <a:rPr lang="pt-BR" sz="1800">
                <a:solidFill>
                  <a:srgbClr val="0070C0"/>
                </a:solidFill>
                <a:latin typeface="Calibri"/>
                <a:ea typeface="Calibri"/>
                <a:cs typeface="Calibri"/>
                <a:sym typeface="Calibri"/>
              </a:rPr>
              <a:t>GEP</a:t>
            </a:r>
            <a:r>
              <a:rPr b="0" i="0" lang="pt-BR" sz="1800" u="none" cap="none" strike="noStrike">
                <a:solidFill>
                  <a:srgbClr val="0070C0"/>
                </a:solidFill>
                <a:latin typeface="Calibri"/>
                <a:ea typeface="Calibri"/>
                <a:cs typeface="Calibri"/>
                <a:sym typeface="Calibri"/>
              </a:rPr>
              <a:t>– </a:t>
            </a:r>
            <a:r>
              <a:rPr lang="pt-BR" sz="1800">
                <a:solidFill>
                  <a:srgbClr val="0070C0"/>
                </a:solidFill>
                <a:latin typeface="Calibri"/>
                <a:ea typeface="Calibri"/>
                <a:cs typeface="Calibri"/>
                <a:sym typeface="Calibri"/>
              </a:rPr>
              <a:t>152</a:t>
            </a:r>
            <a:endParaRPr/>
          </a:p>
          <a:p>
            <a:pPr indent="0" lvl="0" marL="0" marR="0" rtl="0" algn="ctr">
              <a:spcBef>
                <a:spcPts val="0"/>
              </a:spcBef>
              <a:spcAft>
                <a:spcPts val="0"/>
              </a:spcAft>
              <a:buNone/>
            </a:pPr>
            <a:r>
              <a:rPr lang="pt-BR" sz="1800">
                <a:solidFill>
                  <a:srgbClr val="0070C0"/>
                </a:solidFill>
                <a:latin typeface="Calibri"/>
                <a:ea typeface="Calibri"/>
                <a:cs typeface="Calibri"/>
                <a:sym typeface="Calibri"/>
              </a:rPr>
              <a:t>Matheus Henrique Ferreira Braz </a:t>
            </a:r>
            <a:r>
              <a:rPr b="0" i="0" lang="pt-BR" sz="1800" u="none" cap="none" strike="noStrike">
                <a:solidFill>
                  <a:srgbClr val="0070C0"/>
                </a:solidFill>
                <a:latin typeface="Calibri"/>
                <a:ea typeface="Calibri"/>
                <a:cs typeface="Calibri"/>
                <a:sym typeface="Calibri"/>
              </a:rPr>
              <a:t>– </a:t>
            </a:r>
            <a:r>
              <a:rPr lang="pt-BR" sz="1800">
                <a:solidFill>
                  <a:srgbClr val="0070C0"/>
                </a:solidFill>
                <a:latin typeface="Calibri"/>
                <a:ea typeface="Calibri"/>
                <a:cs typeface="Calibri"/>
                <a:sym typeface="Calibri"/>
              </a:rPr>
              <a:t>GES </a:t>
            </a:r>
            <a:r>
              <a:rPr b="0" i="0" lang="pt-BR" sz="1800" u="none" cap="none" strike="noStrike">
                <a:solidFill>
                  <a:srgbClr val="0070C0"/>
                </a:solidFill>
                <a:latin typeface="Calibri"/>
                <a:ea typeface="Calibri"/>
                <a:cs typeface="Calibri"/>
                <a:sym typeface="Calibri"/>
              </a:rPr>
              <a:t>– </a:t>
            </a:r>
            <a:r>
              <a:rPr lang="pt-BR" sz="1800">
                <a:solidFill>
                  <a:srgbClr val="0070C0"/>
                </a:solidFill>
                <a:latin typeface="Calibri"/>
                <a:ea typeface="Calibri"/>
                <a:cs typeface="Calibri"/>
                <a:sym typeface="Calibri"/>
              </a:rPr>
              <a:t>636</a:t>
            </a:r>
            <a:endParaRPr/>
          </a:p>
          <a:p>
            <a:pPr indent="0" lvl="0" marL="0" marR="0" rtl="0" algn="ctr">
              <a:spcBef>
                <a:spcPts val="0"/>
              </a:spcBef>
              <a:spcAft>
                <a:spcPts val="0"/>
              </a:spcAft>
              <a:buNone/>
            </a:pPr>
            <a:r>
              <a:rPr lang="pt-BR" sz="1800">
                <a:solidFill>
                  <a:srgbClr val="0070C0"/>
                </a:solidFill>
                <a:latin typeface="Calibri"/>
                <a:ea typeface="Calibri"/>
                <a:cs typeface="Calibri"/>
                <a:sym typeface="Calibri"/>
              </a:rPr>
              <a:t>Yasmim Vasconcelos Leite </a:t>
            </a:r>
            <a:r>
              <a:rPr b="0" i="0" lang="pt-BR" sz="1800" u="none" cap="none" strike="noStrike">
                <a:solidFill>
                  <a:srgbClr val="0070C0"/>
                </a:solidFill>
                <a:latin typeface="Calibri"/>
                <a:ea typeface="Calibri"/>
                <a:cs typeface="Calibri"/>
                <a:sym typeface="Calibri"/>
              </a:rPr>
              <a:t>– </a:t>
            </a:r>
            <a:r>
              <a:rPr lang="pt-BR" sz="1800">
                <a:solidFill>
                  <a:srgbClr val="0070C0"/>
                </a:solidFill>
                <a:latin typeface="Calibri"/>
                <a:ea typeface="Calibri"/>
                <a:cs typeface="Calibri"/>
                <a:sym typeface="Calibri"/>
              </a:rPr>
              <a:t>GES </a:t>
            </a:r>
            <a:r>
              <a:rPr b="0" i="0" lang="pt-BR" sz="1800" u="none" cap="none" strike="noStrike">
                <a:solidFill>
                  <a:srgbClr val="0070C0"/>
                </a:solidFill>
                <a:latin typeface="Calibri"/>
                <a:ea typeface="Calibri"/>
                <a:cs typeface="Calibri"/>
                <a:sym typeface="Calibri"/>
              </a:rPr>
              <a:t>– </a:t>
            </a:r>
            <a:r>
              <a:rPr lang="pt-BR" sz="1800">
                <a:solidFill>
                  <a:srgbClr val="0070C0"/>
                </a:solidFill>
                <a:latin typeface="Calibri"/>
                <a:ea typeface="Calibri"/>
                <a:cs typeface="Calibri"/>
                <a:sym typeface="Calibri"/>
              </a:rPr>
              <a:t>417</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4"/>
          <p:cNvPicPr preferRelativeResize="0"/>
          <p:nvPr/>
        </p:nvPicPr>
        <p:blipFill rotWithShape="1">
          <a:blip r:embed="rId3">
            <a:alphaModFix/>
          </a:blip>
          <a:srcRect b="0" l="0" r="0" t="0"/>
          <a:stretch/>
        </p:blipFill>
        <p:spPr>
          <a:xfrm>
            <a:off x="0" y="0"/>
            <a:ext cx="12192000" cy="6858001"/>
          </a:xfrm>
          <a:prstGeom prst="rect">
            <a:avLst/>
          </a:prstGeom>
          <a:noFill/>
          <a:ln>
            <a:noFill/>
          </a:ln>
        </p:spPr>
      </p:pic>
      <p:pic>
        <p:nvPicPr>
          <p:cNvPr id="92" name="Google Shape;92;p14"/>
          <p:cNvPicPr preferRelativeResize="0"/>
          <p:nvPr/>
        </p:nvPicPr>
        <p:blipFill rotWithShape="1">
          <a:blip r:embed="rId4">
            <a:alphaModFix/>
          </a:blip>
          <a:srcRect b="0" l="0" r="0" t="0"/>
          <a:stretch/>
        </p:blipFill>
        <p:spPr>
          <a:xfrm>
            <a:off x="8349630" y="0"/>
            <a:ext cx="1949550" cy="1435174"/>
          </a:xfrm>
          <a:prstGeom prst="rect">
            <a:avLst/>
          </a:prstGeom>
          <a:noFill/>
          <a:ln>
            <a:noFill/>
          </a:ln>
        </p:spPr>
      </p:pic>
      <p:sp>
        <p:nvSpPr>
          <p:cNvPr id="93" name="Google Shape;93;p14"/>
          <p:cNvSpPr txBox="1"/>
          <p:nvPr/>
        </p:nvSpPr>
        <p:spPr>
          <a:xfrm>
            <a:off x="593067" y="28941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CONSCIENTIZAÇÃO E COMPREENSÃO</a:t>
            </a:r>
            <a:endParaRPr/>
          </a:p>
        </p:txBody>
      </p:sp>
      <p:sp>
        <p:nvSpPr>
          <p:cNvPr id="94" name="Google Shape;94;p14"/>
          <p:cNvSpPr txBox="1"/>
          <p:nvPr/>
        </p:nvSpPr>
        <p:spPr>
          <a:xfrm>
            <a:off x="546575" y="1118475"/>
            <a:ext cx="108078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Calibri"/>
                <a:ea typeface="Calibri"/>
                <a:cs typeface="Calibri"/>
                <a:sym typeface="Calibri"/>
              </a:rPr>
              <a:t>Uma breve descrição sobre o Dataset escolhido.</a:t>
            </a:r>
            <a:endParaRPr b="1" sz="1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pt-BR">
                <a:solidFill>
                  <a:schemeClr val="dk1"/>
                </a:solidFill>
              </a:rPr>
              <a:t>O Spotify Tracks Dataset reúne 114.000 registros musicais de 114 gêneros, contendo informações sobre artistas, álbuns, </a:t>
            </a:r>
            <a:endParaRPr>
              <a:solidFill>
                <a:schemeClr val="dk1"/>
              </a:solidFill>
            </a:endParaRPr>
          </a:p>
          <a:p>
            <a:pPr indent="0" lvl="0" marL="0" rtl="0" algn="l">
              <a:lnSpc>
                <a:spcPct val="100000"/>
              </a:lnSpc>
              <a:spcBef>
                <a:spcPts val="0"/>
              </a:spcBef>
              <a:spcAft>
                <a:spcPts val="0"/>
              </a:spcAft>
              <a:buSzPts val="1100"/>
              <a:buNone/>
            </a:pPr>
            <a:r>
              <a:rPr lang="pt-BR">
                <a:solidFill>
                  <a:schemeClr val="dk1"/>
                </a:solidFill>
              </a:rPr>
              <a:t>popularidade, duração e características sonoras. Esses dados permitem identificar padrões, comparar estilos e investigar relações entre as características das faixas e seu desempenho.</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marR="0" rtl="0" algn="l">
              <a:lnSpc>
                <a:spcPct val="100000"/>
              </a:lnSpc>
              <a:spcBef>
                <a:spcPts val="0"/>
              </a:spcBef>
              <a:spcAft>
                <a:spcPts val="0"/>
              </a:spcAft>
              <a:buNone/>
            </a:pPr>
            <a:r>
              <a:rPr b="1" lang="pt-BR" sz="1800">
                <a:solidFill>
                  <a:schemeClr val="dk1"/>
                </a:solidFill>
                <a:latin typeface="Calibri"/>
                <a:ea typeface="Calibri"/>
                <a:cs typeface="Calibri"/>
                <a:sym typeface="Calibri"/>
              </a:rPr>
              <a:t>Para quem a análise deste Dataset pode ser estratégica?</a:t>
            </a:r>
            <a:endParaRPr/>
          </a:p>
          <a:p>
            <a:pPr indent="0" lvl="0" marL="0" rtl="0" algn="l">
              <a:lnSpc>
                <a:spcPct val="100000"/>
              </a:lnSpc>
              <a:spcBef>
                <a:spcPts val="0"/>
              </a:spcBef>
              <a:spcAft>
                <a:spcPts val="0"/>
              </a:spcAft>
              <a:buSzPts val="1100"/>
              <a:buNone/>
            </a:pPr>
            <a:r>
              <a:rPr lang="pt-BR">
                <a:solidFill>
                  <a:schemeClr val="dk1"/>
                </a:solidFill>
              </a:rPr>
              <a:t>A análise é relevante para plataformas de streaming, gravadoras, artistas e produtores musicais, pois auxilia na identificação de padrões associados à popularidade, contribuindo para sistemas de recomendação, playlists personalizadas e estratégias de divulgação.</a:t>
            </a:r>
            <a:endParaRPr>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None/>
            </a:pPr>
            <a:r>
              <a:rPr b="1" lang="pt-BR" sz="1800">
                <a:solidFill>
                  <a:schemeClr val="dk1"/>
                </a:solidFill>
                <a:latin typeface="Calibri"/>
                <a:ea typeface="Calibri"/>
                <a:cs typeface="Calibri"/>
                <a:sym typeface="Calibri"/>
              </a:rPr>
              <a:t>Quais são as colunas deste Dataset?</a:t>
            </a:r>
            <a:endParaRPr>
              <a:solidFill>
                <a:schemeClr val="dk1"/>
              </a:solidFill>
            </a:endParaRPr>
          </a:p>
          <a:p>
            <a:pPr indent="0" lvl="0" marL="0" rtl="0" algn="l">
              <a:lnSpc>
                <a:spcPct val="100000"/>
              </a:lnSpc>
              <a:spcBef>
                <a:spcPts val="0"/>
              </a:spcBef>
              <a:spcAft>
                <a:spcPts val="0"/>
              </a:spcAft>
              <a:buSzPts val="1100"/>
              <a:buNone/>
            </a:pPr>
            <a:r>
              <a:rPr lang="pt-BR">
                <a:solidFill>
                  <a:schemeClr val="dk1"/>
                </a:solidFill>
              </a:rPr>
              <a:t>O dataset contém 21 colunas, sendo 20 referentes</a:t>
            </a:r>
            <a:r>
              <a:rPr b="1" lang="pt-BR">
                <a:solidFill>
                  <a:schemeClr val="dk1"/>
                </a:solidFill>
              </a:rPr>
              <a:t> </a:t>
            </a:r>
            <a:r>
              <a:rPr lang="pt-BR">
                <a:solidFill>
                  <a:schemeClr val="dk1"/>
                </a:solidFill>
              </a:rPr>
              <a:t>às informações das faixas musicais e uma correspondente ao índice original, distribuídas nas seguintes categorias:</a:t>
            </a:r>
            <a:endParaRPr>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b="1" lang="pt-BR">
                <a:solidFill>
                  <a:schemeClr val="dk1"/>
                </a:solidFill>
              </a:rPr>
              <a:t>Identificação: </a:t>
            </a:r>
            <a:r>
              <a:rPr lang="pt-BR">
                <a:solidFill>
                  <a:schemeClr val="dk1"/>
                </a:solidFill>
              </a:rPr>
              <a:t>Unnamed: 0, track_id, artists, album_name, track_name e track_genre;</a:t>
            </a:r>
            <a:endParaRPr>
              <a:solidFill>
                <a:schemeClr val="dk1"/>
              </a:solidFill>
            </a:endParaRPr>
          </a:p>
          <a:p>
            <a:pPr indent="0" lvl="0" marL="0" rtl="0" algn="l">
              <a:lnSpc>
                <a:spcPct val="100000"/>
              </a:lnSpc>
              <a:spcBef>
                <a:spcPts val="0"/>
              </a:spcBef>
              <a:spcAft>
                <a:spcPts val="0"/>
              </a:spcAft>
              <a:buSzPts val="1100"/>
              <a:buNone/>
            </a:pPr>
            <a:r>
              <a:rPr b="1" lang="pt-BR">
                <a:solidFill>
                  <a:schemeClr val="dk1"/>
                </a:solidFill>
              </a:rPr>
              <a:t>Popularidade, conteúdo e duração: </a:t>
            </a:r>
            <a:r>
              <a:rPr lang="pt-BR">
                <a:solidFill>
                  <a:schemeClr val="dk1"/>
                </a:solidFill>
              </a:rPr>
              <a:t>popularity, explicit e duration_ms;</a:t>
            </a:r>
            <a:endParaRPr>
              <a:solidFill>
                <a:schemeClr val="dk1"/>
              </a:solidFill>
            </a:endParaRPr>
          </a:p>
          <a:p>
            <a:pPr indent="0" lvl="0" marL="0" rtl="0" algn="l">
              <a:lnSpc>
                <a:spcPct val="100000"/>
              </a:lnSpc>
              <a:spcBef>
                <a:spcPts val="0"/>
              </a:spcBef>
              <a:spcAft>
                <a:spcPts val="0"/>
              </a:spcAft>
              <a:buSzPts val="1100"/>
              <a:buNone/>
            </a:pPr>
            <a:r>
              <a:rPr b="1" lang="pt-BR">
                <a:solidFill>
                  <a:schemeClr val="dk1"/>
                </a:solidFill>
              </a:rPr>
              <a:t>Características musicais: </a:t>
            </a:r>
            <a:r>
              <a:rPr lang="pt-BR">
                <a:solidFill>
                  <a:schemeClr val="dk1"/>
                </a:solidFill>
              </a:rPr>
              <a:t>danceability, energy, key, loudness, mode, speechiness, acousticness, instrumentalness, liveness, valence, tempo e time_signature.</a:t>
            </a:r>
            <a:endParaRPr>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None/>
            </a:pPr>
            <a:r>
              <a:rPr b="1" lang="pt-BR" sz="1800">
                <a:solidFill>
                  <a:schemeClr val="dk1"/>
                </a:solidFill>
                <a:latin typeface="Calibri"/>
                <a:ea typeface="Calibri"/>
                <a:cs typeface="Calibri"/>
                <a:sym typeface="Calibri"/>
              </a:rPr>
              <a:t>Link de acesso ao </a:t>
            </a:r>
            <a:r>
              <a:rPr b="1" i="1" lang="pt-BR" sz="1800">
                <a:solidFill>
                  <a:schemeClr val="dk1"/>
                </a:solidFill>
                <a:latin typeface="Calibri"/>
                <a:ea typeface="Calibri"/>
                <a:cs typeface="Calibri"/>
                <a:sym typeface="Calibri"/>
              </a:rPr>
              <a:t>Dataset</a:t>
            </a:r>
            <a:r>
              <a:rPr b="1" lang="pt-BR"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pt-BR" u="sng">
                <a:solidFill>
                  <a:schemeClr val="hlink"/>
                </a:solidFill>
                <a:hlinkClick r:id="rId5"/>
              </a:rPr>
              <a:t>https://www.kaggle.com/datasets/maharshipandya/-spotify-tracks-dataset</a:t>
            </a:r>
            <a:endParaRPr b="1">
              <a:solidFill>
                <a:schemeClr val="dk1"/>
              </a:solidFill>
            </a:endParaRPr>
          </a:p>
        </p:txBody>
      </p:sp>
      <p:pic>
        <p:nvPicPr>
          <p:cNvPr id="95" name="Google Shape;95;p14"/>
          <p:cNvPicPr preferRelativeResize="0"/>
          <p:nvPr/>
        </p:nvPicPr>
        <p:blipFill rotWithShape="1">
          <a:blip r:embed="rId6">
            <a:alphaModFix/>
          </a:blip>
          <a:srcRect b="0" l="0" r="0" t="0"/>
          <a:stretch/>
        </p:blipFill>
        <p:spPr>
          <a:xfrm>
            <a:off x="10851525" y="0"/>
            <a:ext cx="1236750" cy="1642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5"/>
          <p:cNvPicPr preferRelativeResize="0"/>
          <p:nvPr/>
        </p:nvPicPr>
        <p:blipFill rotWithShape="1">
          <a:blip r:embed="rId3">
            <a:alphaModFix/>
          </a:blip>
          <a:srcRect b="0" l="0" r="0" t="0"/>
          <a:stretch/>
        </p:blipFill>
        <p:spPr>
          <a:xfrm>
            <a:off x="-35925" y="0"/>
            <a:ext cx="12192000" cy="6858000"/>
          </a:xfrm>
          <a:prstGeom prst="rect">
            <a:avLst/>
          </a:prstGeom>
          <a:noFill/>
          <a:ln>
            <a:noFill/>
          </a:ln>
        </p:spPr>
      </p:pic>
      <p:pic>
        <p:nvPicPr>
          <p:cNvPr id="101" name="Google Shape;101;p15"/>
          <p:cNvPicPr preferRelativeResize="0"/>
          <p:nvPr/>
        </p:nvPicPr>
        <p:blipFill rotWithShape="1">
          <a:blip r:embed="rId4">
            <a:alphaModFix/>
          </a:blip>
          <a:srcRect b="0" l="0" r="0" t="0"/>
          <a:stretch/>
        </p:blipFill>
        <p:spPr>
          <a:xfrm>
            <a:off x="8484500" y="0"/>
            <a:ext cx="1814675" cy="1335875"/>
          </a:xfrm>
          <a:prstGeom prst="rect">
            <a:avLst/>
          </a:prstGeom>
          <a:noFill/>
          <a:ln>
            <a:noFill/>
          </a:ln>
        </p:spPr>
      </p:pic>
      <p:sp>
        <p:nvSpPr>
          <p:cNvPr id="102" name="Google Shape;102;p15"/>
          <p:cNvSpPr txBox="1"/>
          <p:nvPr/>
        </p:nvSpPr>
        <p:spPr>
          <a:xfrm>
            <a:off x="287867" y="262467"/>
            <a:ext cx="983826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CONSCIENTIZAÇÃO E COMPREENSÃO</a:t>
            </a:r>
            <a:endParaRPr/>
          </a:p>
        </p:txBody>
      </p:sp>
      <p:sp>
        <p:nvSpPr>
          <p:cNvPr id="103" name="Google Shape;103;p15"/>
          <p:cNvSpPr txBox="1"/>
          <p:nvPr/>
        </p:nvSpPr>
        <p:spPr>
          <a:xfrm>
            <a:off x="287875" y="713875"/>
            <a:ext cx="11379300" cy="90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rtl="0" algn="l">
              <a:lnSpc>
                <a:spcPct val="115000"/>
              </a:lnSpc>
              <a:spcBef>
                <a:spcPts val="0"/>
              </a:spcBef>
              <a:spcAft>
                <a:spcPts val="0"/>
              </a:spcAft>
              <a:buSzPts val="1100"/>
              <a:buNone/>
            </a:pPr>
            <a:r>
              <a:rPr b="1" lang="pt-BR" sz="1800">
                <a:solidFill>
                  <a:schemeClr val="dk1"/>
                </a:solidFill>
              </a:rPr>
              <a:t>Pergunta 1: Quais gêneros apresentam a maior e a menor popularidade</a:t>
            </a:r>
            <a:endParaRPr b="1" sz="1800">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média?</a:t>
            </a:r>
            <a:endParaRPr b="1" sz="1800">
              <a:solidFill>
                <a:schemeClr val="dk1"/>
              </a:solidFill>
            </a:endParaRPr>
          </a:p>
        </p:txBody>
      </p:sp>
      <p:pic>
        <p:nvPicPr>
          <p:cNvPr id="104" name="Google Shape;104;p15"/>
          <p:cNvPicPr preferRelativeResize="0"/>
          <p:nvPr/>
        </p:nvPicPr>
        <p:blipFill rotWithShape="1">
          <a:blip r:embed="rId5">
            <a:alphaModFix/>
          </a:blip>
          <a:srcRect b="0" l="0" r="0" t="0"/>
          <a:stretch/>
        </p:blipFill>
        <p:spPr>
          <a:xfrm>
            <a:off x="10588542" y="0"/>
            <a:ext cx="1257365" cy="1670136"/>
          </a:xfrm>
          <a:prstGeom prst="rect">
            <a:avLst/>
          </a:prstGeom>
          <a:noFill/>
          <a:ln>
            <a:noFill/>
          </a:ln>
        </p:spPr>
      </p:pic>
      <p:pic>
        <p:nvPicPr>
          <p:cNvPr id="105" name="Google Shape;105;p15"/>
          <p:cNvPicPr preferRelativeResize="0"/>
          <p:nvPr/>
        </p:nvPicPr>
        <p:blipFill>
          <a:blip r:embed="rId6">
            <a:alphaModFix/>
          </a:blip>
          <a:stretch>
            <a:fillRect/>
          </a:stretch>
        </p:blipFill>
        <p:spPr>
          <a:xfrm>
            <a:off x="7632363" y="3058250"/>
            <a:ext cx="3518950" cy="969516"/>
          </a:xfrm>
          <a:prstGeom prst="rect">
            <a:avLst/>
          </a:prstGeom>
          <a:noFill/>
          <a:ln>
            <a:noFill/>
          </a:ln>
        </p:spPr>
      </p:pic>
      <p:pic>
        <p:nvPicPr>
          <p:cNvPr id="106" name="Google Shape;106;p15"/>
          <p:cNvPicPr preferRelativeResize="0"/>
          <p:nvPr/>
        </p:nvPicPr>
        <p:blipFill>
          <a:blip r:embed="rId7">
            <a:alphaModFix/>
          </a:blip>
          <a:stretch>
            <a:fillRect/>
          </a:stretch>
        </p:blipFill>
        <p:spPr>
          <a:xfrm>
            <a:off x="636350" y="1617475"/>
            <a:ext cx="6414601" cy="4287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12" name="Google Shape;112;p16"/>
          <p:cNvPicPr preferRelativeResize="0"/>
          <p:nvPr/>
        </p:nvPicPr>
        <p:blipFill rotWithShape="1">
          <a:blip r:embed="rId4">
            <a:alphaModFix/>
          </a:blip>
          <a:srcRect b="0" l="0" r="0" t="0"/>
          <a:stretch/>
        </p:blipFill>
        <p:spPr>
          <a:xfrm>
            <a:off x="8349630" y="0"/>
            <a:ext cx="1949550" cy="1435174"/>
          </a:xfrm>
          <a:prstGeom prst="rect">
            <a:avLst/>
          </a:prstGeom>
          <a:noFill/>
          <a:ln>
            <a:noFill/>
          </a:ln>
        </p:spPr>
      </p:pic>
      <p:sp>
        <p:nvSpPr>
          <p:cNvPr id="113" name="Google Shape;113;p16"/>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CONSCIENTIZAÇÃO E COMPREENSÃO</a:t>
            </a:r>
            <a:endParaRPr/>
          </a:p>
        </p:txBody>
      </p:sp>
      <p:sp>
        <p:nvSpPr>
          <p:cNvPr id="114" name="Google Shape;114;p16"/>
          <p:cNvSpPr txBox="1"/>
          <p:nvPr/>
        </p:nvSpPr>
        <p:spPr>
          <a:xfrm>
            <a:off x="287875" y="832450"/>
            <a:ext cx="11379300" cy="687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pt-BR" sz="1800">
                <a:solidFill>
                  <a:schemeClr val="dk1"/>
                </a:solidFill>
              </a:rPr>
              <a:t>Pergunta 2: </a:t>
            </a:r>
            <a:r>
              <a:rPr b="1" lang="pt-BR" sz="1800">
                <a:solidFill>
                  <a:schemeClr val="dk1"/>
                </a:solidFill>
              </a:rPr>
              <a:t>O que está mais associado à popularidade de uma música: </a:t>
            </a:r>
            <a:endParaRPr b="1" sz="1800">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sua dançabilidade, energia, intensidade sonora, acústica ou instrumentalidade?</a:t>
            </a:r>
            <a:endParaRPr sz="1800">
              <a:solidFill>
                <a:srgbClr val="0070C0"/>
              </a:solidFill>
            </a:endParaRPr>
          </a:p>
        </p:txBody>
      </p:sp>
      <p:pic>
        <p:nvPicPr>
          <p:cNvPr id="115" name="Google Shape;115;p16"/>
          <p:cNvPicPr preferRelativeResize="0"/>
          <p:nvPr/>
        </p:nvPicPr>
        <p:blipFill rotWithShape="1">
          <a:blip r:embed="rId5">
            <a:alphaModFix/>
          </a:blip>
          <a:srcRect b="0" l="0" r="0" t="0"/>
          <a:stretch/>
        </p:blipFill>
        <p:spPr>
          <a:xfrm>
            <a:off x="10588542" y="0"/>
            <a:ext cx="1257365" cy="1670136"/>
          </a:xfrm>
          <a:prstGeom prst="rect">
            <a:avLst/>
          </a:prstGeom>
          <a:noFill/>
          <a:ln>
            <a:noFill/>
          </a:ln>
        </p:spPr>
      </p:pic>
      <p:pic>
        <p:nvPicPr>
          <p:cNvPr id="116" name="Google Shape;116;p16"/>
          <p:cNvPicPr preferRelativeResize="0"/>
          <p:nvPr/>
        </p:nvPicPr>
        <p:blipFill>
          <a:blip r:embed="rId6">
            <a:alphaModFix/>
          </a:blip>
          <a:stretch>
            <a:fillRect/>
          </a:stretch>
        </p:blipFill>
        <p:spPr>
          <a:xfrm>
            <a:off x="7517675" y="2774850"/>
            <a:ext cx="3740899" cy="1398100"/>
          </a:xfrm>
          <a:prstGeom prst="rect">
            <a:avLst/>
          </a:prstGeom>
          <a:noFill/>
          <a:ln>
            <a:noFill/>
          </a:ln>
        </p:spPr>
      </p:pic>
      <p:pic>
        <p:nvPicPr>
          <p:cNvPr id="117" name="Google Shape;117;p16"/>
          <p:cNvPicPr preferRelativeResize="0"/>
          <p:nvPr/>
        </p:nvPicPr>
        <p:blipFill>
          <a:blip r:embed="rId7">
            <a:alphaModFix/>
          </a:blip>
          <a:stretch>
            <a:fillRect/>
          </a:stretch>
        </p:blipFill>
        <p:spPr>
          <a:xfrm>
            <a:off x="1207750" y="1520350"/>
            <a:ext cx="5366199" cy="4503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17"/>
          <p:cNvPicPr preferRelativeResize="0"/>
          <p:nvPr/>
        </p:nvPicPr>
        <p:blipFill rotWithShape="1">
          <a:blip r:embed="rId3">
            <a:alphaModFix/>
          </a:blip>
          <a:srcRect b="0" l="0" r="0" t="0"/>
          <a:stretch/>
        </p:blipFill>
        <p:spPr>
          <a:xfrm>
            <a:off x="0" y="53850"/>
            <a:ext cx="12192000" cy="6858000"/>
          </a:xfrm>
          <a:prstGeom prst="rect">
            <a:avLst/>
          </a:prstGeom>
          <a:noFill/>
          <a:ln>
            <a:noFill/>
          </a:ln>
        </p:spPr>
      </p:pic>
      <p:pic>
        <p:nvPicPr>
          <p:cNvPr id="123" name="Google Shape;123;p17"/>
          <p:cNvPicPr preferRelativeResize="0"/>
          <p:nvPr/>
        </p:nvPicPr>
        <p:blipFill rotWithShape="1">
          <a:blip r:embed="rId4">
            <a:alphaModFix/>
          </a:blip>
          <a:srcRect b="0" l="0" r="0" t="0"/>
          <a:stretch/>
        </p:blipFill>
        <p:spPr>
          <a:xfrm>
            <a:off x="8349630" y="0"/>
            <a:ext cx="1949550" cy="1435174"/>
          </a:xfrm>
          <a:prstGeom prst="rect">
            <a:avLst/>
          </a:prstGeom>
          <a:noFill/>
          <a:ln>
            <a:noFill/>
          </a:ln>
        </p:spPr>
      </p:pic>
      <p:sp>
        <p:nvSpPr>
          <p:cNvPr id="124" name="Google Shape;124;p17"/>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CONSCIENTIZAÇÃO E COMPREENSÃO</a:t>
            </a:r>
            <a:endParaRPr/>
          </a:p>
        </p:txBody>
      </p:sp>
      <p:sp>
        <p:nvSpPr>
          <p:cNvPr id="125" name="Google Shape;125;p17"/>
          <p:cNvSpPr txBox="1"/>
          <p:nvPr/>
        </p:nvSpPr>
        <p:spPr>
          <a:xfrm>
            <a:off x="287875" y="899800"/>
            <a:ext cx="11379300" cy="687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pt-BR" sz="1800">
                <a:solidFill>
                  <a:schemeClr val="dk1"/>
                </a:solidFill>
              </a:rPr>
              <a:t>Pergunta 3: Músicas mais dançantes e energéticas apresentam maior</a:t>
            </a:r>
            <a:endParaRPr b="1" sz="1800">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 popularidade?</a:t>
            </a:r>
            <a:endParaRPr sz="1800">
              <a:solidFill>
                <a:srgbClr val="0070C0"/>
              </a:solidFill>
            </a:endParaRPr>
          </a:p>
        </p:txBody>
      </p:sp>
      <p:pic>
        <p:nvPicPr>
          <p:cNvPr id="126" name="Google Shape;126;p17"/>
          <p:cNvPicPr preferRelativeResize="0"/>
          <p:nvPr/>
        </p:nvPicPr>
        <p:blipFill rotWithShape="1">
          <a:blip r:embed="rId5">
            <a:alphaModFix/>
          </a:blip>
          <a:srcRect b="0" l="0" r="0" t="0"/>
          <a:stretch/>
        </p:blipFill>
        <p:spPr>
          <a:xfrm>
            <a:off x="10588542" y="0"/>
            <a:ext cx="1257365" cy="1670136"/>
          </a:xfrm>
          <a:prstGeom prst="rect">
            <a:avLst/>
          </a:prstGeom>
          <a:noFill/>
          <a:ln>
            <a:noFill/>
          </a:ln>
        </p:spPr>
      </p:pic>
      <p:pic>
        <p:nvPicPr>
          <p:cNvPr id="127" name="Google Shape;127;p17"/>
          <p:cNvPicPr preferRelativeResize="0"/>
          <p:nvPr/>
        </p:nvPicPr>
        <p:blipFill>
          <a:blip r:embed="rId6">
            <a:alphaModFix/>
          </a:blip>
          <a:stretch>
            <a:fillRect/>
          </a:stretch>
        </p:blipFill>
        <p:spPr>
          <a:xfrm>
            <a:off x="9707850" y="3045075"/>
            <a:ext cx="3018750" cy="875525"/>
          </a:xfrm>
          <a:prstGeom prst="rect">
            <a:avLst/>
          </a:prstGeom>
          <a:noFill/>
          <a:ln>
            <a:noFill/>
          </a:ln>
        </p:spPr>
      </p:pic>
      <p:pic>
        <p:nvPicPr>
          <p:cNvPr id="128" name="Google Shape;128;p17"/>
          <p:cNvPicPr preferRelativeResize="0"/>
          <p:nvPr/>
        </p:nvPicPr>
        <p:blipFill>
          <a:blip r:embed="rId7">
            <a:alphaModFix/>
          </a:blip>
          <a:stretch>
            <a:fillRect/>
          </a:stretch>
        </p:blipFill>
        <p:spPr>
          <a:xfrm>
            <a:off x="1057200" y="1985037"/>
            <a:ext cx="8299574" cy="3354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8"/>
          <p:cNvPicPr preferRelativeResize="0"/>
          <p:nvPr/>
        </p:nvPicPr>
        <p:blipFill rotWithShape="1">
          <a:blip r:embed="rId4">
            <a:alphaModFix/>
          </a:blip>
          <a:srcRect b="0" l="0" r="0" t="0"/>
          <a:stretch/>
        </p:blipFill>
        <p:spPr>
          <a:xfrm>
            <a:off x="8349630" y="0"/>
            <a:ext cx="1949550" cy="1435174"/>
          </a:xfrm>
          <a:prstGeom prst="rect">
            <a:avLst/>
          </a:prstGeom>
          <a:noFill/>
          <a:ln>
            <a:noFill/>
          </a:ln>
        </p:spPr>
      </p:pic>
      <p:sp>
        <p:nvSpPr>
          <p:cNvPr id="135" name="Google Shape;135;p18"/>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CONSCIENTIZAÇÃO E COMPREENSÃO</a:t>
            </a:r>
            <a:endParaRPr/>
          </a:p>
        </p:txBody>
      </p:sp>
      <p:sp>
        <p:nvSpPr>
          <p:cNvPr id="136" name="Google Shape;136;p18"/>
          <p:cNvSpPr txBox="1"/>
          <p:nvPr/>
        </p:nvSpPr>
        <p:spPr>
          <a:xfrm>
            <a:off x="287875" y="785675"/>
            <a:ext cx="11379300" cy="687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pt-BR" sz="1800">
                <a:solidFill>
                  <a:schemeClr val="dk1"/>
                </a:solidFill>
              </a:rPr>
              <a:t>Pergunta 4: </a:t>
            </a:r>
            <a:r>
              <a:rPr b="1" lang="pt-BR" sz="1800">
                <a:solidFill>
                  <a:schemeClr val="dk1"/>
                </a:solidFill>
              </a:rPr>
              <a:t>Como variam a dançabilidade, a energia e a valência das </a:t>
            </a:r>
            <a:endParaRPr b="1" sz="1800">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músicas pertencentes aos cinco gêneros musicais mais populares? </a:t>
            </a:r>
            <a:endParaRPr sz="1800">
              <a:solidFill>
                <a:srgbClr val="0070C0"/>
              </a:solidFill>
            </a:endParaRPr>
          </a:p>
        </p:txBody>
      </p:sp>
      <p:pic>
        <p:nvPicPr>
          <p:cNvPr id="137" name="Google Shape;137;p18"/>
          <p:cNvPicPr preferRelativeResize="0"/>
          <p:nvPr/>
        </p:nvPicPr>
        <p:blipFill rotWithShape="1">
          <a:blip r:embed="rId5">
            <a:alphaModFix/>
          </a:blip>
          <a:srcRect b="0" l="0" r="0" t="0"/>
          <a:stretch/>
        </p:blipFill>
        <p:spPr>
          <a:xfrm>
            <a:off x="10588542" y="0"/>
            <a:ext cx="1257365" cy="1670136"/>
          </a:xfrm>
          <a:prstGeom prst="rect">
            <a:avLst/>
          </a:prstGeom>
          <a:noFill/>
          <a:ln>
            <a:noFill/>
          </a:ln>
        </p:spPr>
      </p:pic>
      <p:pic>
        <p:nvPicPr>
          <p:cNvPr id="138" name="Google Shape;138;p18"/>
          <p:cNvPicPr preferRelativeResize="0"/>
          <p:nvPr/>
        </p:nvPicPr>
        <p:blipFill>
          <a:blip r:embed="rId6">
            <a:alphaModFix/>
          </a:blip>
          <a:stretch>
            <a:fillRect/>
          </a:stretch>
        </p:blipFill>
        <p:spPr>
          <a:xfrm>
            <a:off x="7072425" y="2450851"/>
            <a:ext cx="4023025" cy="2165450"/>
          </a:xfrm>
          <a:prstGeom prst="rect">
            <a:avLst/>
          </a:prstGeom>
          <a:noFill/>
          <a:ln>
            <a:noFill/>
          </a:ln>
        </p:spPr>
      </p:pic>
      <p:pic>
        <p:nvPicPr>
          <p:cNvPr id="139" name="Google Shape;139;p18"/>
          <p:cNvPicPr preferRelativeResize="0"/>
          <p:nvPr/>
        </p:nvPicPr>
        <p:blipFill>
          <a:blip r:embed="rId7">
            <a:alphaModFix/>
          </a:blip>
          <a:stretch>
            <a:fillRect/>
          </a:stretch>
        </p:blipFill>
        <p:spPr>
          <a:xfrm>
            <a:off x="986400" y="1670125"/>
            <a:ext cx="5456174" cy="4184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5" name="Google Shape;145;p19"/>
          <p:cNvSpPr txBox="1"/>
          <p:nvPr/>
        </p:nvSpPr>
        <p:spPr>
          <a:xfrm>
            <a:off x="287867" y="262467"/>
            <a:ext cx="983826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ANÁLISE E DIVULGAÇÃO</a:t>
            </a:r>
            <a:endParaRPr/>
          </a:p>
        </p:txBody>
      </p:sp>
      <p:sp>
        <p:nvSpPr>
          <p:cNvPr id="146" name="Google Shape;146;p19"/>
          <p:cNvSpPr txBox="1"/>
          <p:nvPr/>
        </p:nvSpPr>
        <p:spPr>
          <a:xfrm>
            <a:off x="287867" y="785687"/>
            <a:ext cx="11379300" cy="81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chemeClr val="dk1"/>
              </a:solidFill>
              <a:highlight>
                <a:srgbClr val="FFFF00"/>
              </a:highlight>
              <a:latin typeface="Calibri"/>
              <a:ea typeface="Calibri"/>
              <a:cs typeface="Calibri"/>
              <a:sym typeface="Calibri"/>
            </a:endParaRPr>
          </a:p>
          <a:p>
            <a:pPr indent="0" lvl="0" marL="0" marR="0" rtl="0" algn="l">
              <a:spcBef>
                <a:spcPts val="0"/>
              </a:spcBef>
              <a:spcAft>
                <a:spcPts val="0"/>
              </a:spcAft>
              <a:buNone/>
            </a:pPr>
            <a:r>
              <a:rPr b="1" lang="pt-BR" sz="1800">
                <a:solidFill>
                  <a:schemeClr val="dk1"/>
                </a:solidFill>
              </a:rPr>
              <a:t>Pergunta 5: Músicas acústicas ou instrumentais apresentam popularidade </a:t>
            </a:r>
            <a:endParaRPr b="1" sz="1800">
              <a:solidFill>
                <a:schemeClr val="dk1"/>
              </a:solidFill>
            </a:endParaRPr>
          </a:p>
          <a:p>
            <a:pPr indent="0" lvl="0" marL="0" marR="0" rtl="0" algn="l">
              <a:spcBef>
                <a:spcPts val="0"/>
              </a:spcBef>
              <a:spcAft>
                <a:spcPts val="0"/>
              </a:spcAft>
              <a:buNone/>
            </a:pPr>
            <a:r>
              <a:rPr b="1" lang="pt-BR" sz="1800">
                <a:solidFill>
                  <a:schemeClr val="dk1"/>
                </a:solidFill>
              </a:rPr>
              <a:t>diferente das músicas mais convencionais?</a:t>
            </a:r>
            <a:endParaRPr b="1" sz="1800">
              <a:solidFill>
                <a:schemeClr val="dk1"/>
              </a:solidFill>
            </a:endParaRPr>
          </a:p>
        </p:txBody>
      </p:sp>
      <p:pic>
        <p:nvPicPr>
          <p:cNvPr id="147" name="Google Shape;147;p19"/>
          <p:cNvPicPr preferRelativeResize="0"/>
          <p:nvPr/>
        </p:nvPicPr>
        <p:blipFill rotWithShape="1">
          <a:blip r:embed="rId4">
            <a:alphaModFix/>
          </a:blip>
          <a:srcRect b="0" l="0" r="0" t="0"/>
          <a:stretch/>
        </p:blipFill>
        <p:spPr>
          <a:xfrm>
            <a:off x="9029538" y="0"/>
            <a:ext cx="1714588" cy="1479626"/>
          </a:xfrm>
          <a:prstGeom prst="rect">
            <a:avLst/>
          </a:prstGeom>
          <a:noFill/>
          <a:ln>
            <a:noFill/>
          </a:ln>
        </p:spPr>
      </p:pic>
      <p:pic>
        <p:nvPicPr>
          <p:cNvPr id="148" name="Google Shape;148;p19"/>
          <p:cNvPicPr preferRelativeResize="0"/>
          <p:nvPr/>
        </p:nvPicPr>
        <p:blipFill rotWithShape="1">
          <a:blip r:embed="rId5">
            <a:alphaModFix/>
          </a:blip>
          <a:srcRect b="0" l="0" r="0" t="0"/>
          <a:stretch/>
        </p:blipFill>
        <p:spPr>
          <a:xfrm>
            <a:off x="10744126" y="46742"/>
            <a:ext cx="1447874" cy="1466925"/>
          </a:xfrm>
          <a:prstGeom prst="rect">
            <a:avLst/>
          </a:prstGeom>
          <a:noFill/>
          <a:ln>
            <a:noFill/>
          </a:ln>
        </p:spPr>
      </p:pic>
      <p:pic>
        <p:nvPicPr>
          <p:cNvPr id="149" name="Google Shape;149;p19"/>
          <p:cNvPicPr preferRelativeResize="0"/>
          <p:nvPr/>
        </p:nvPicPr>
        <p:blipFill>
          <a:blip r:embed="rId6">
            <a:alphaModFix/>
          </a:blip>
          <a:stretch>
            <a:fillRect/>
          </a:stretch>
        </p:blipFill>
        <p:spPr>
          <a:xfrm>
            <a:off x="8371613" y="2899400"/>
            <a:ext cx="3114675" cy="933450"/>
          </a:xfrm>
          <a:prstGeom prst="rect">
            <a:avLst/>
          </a:prstGeom>
          <a:noFill/>
          <a:ln>
            <a:noFill/>
          </a:ln>
        </p:spPr>
      </p:pic>
      <p:pic>
        <p:nvPicPr>
          <p:cNvPr id="150" name="Google Shape;150;p19"/>
          <p:cNvPicPr preferRelativeResize="0"/>
          <p:nvPr/>
        </p:nvPicPr>
        <p:blipFill>
          <a:blip r:embed="rId7">
            <a:alphaModFix/>
          </a:blip>
          <a:stretch>
            <a:fillRect/>
          </a:stretch>
        </p:blipFill>
        <p:spPr>
          <a:xfrm>
            <a:off x="652675" y="2064427"/>
            <a:ext cx="7311225" cy="28959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20"/>
          <p:cNvPicPr preferRelativeResize="0"/>
          <p:nvPr/>
        </p:nvPicPr>
        <p:blipFill rotWithShape="1">
          <a:blip r:embed="rId3">
            <a:alphaModFix/>
          </a:blip>
          <a:srcRect b="0" l="0" r="0" t="0"/>
          <a:stretch/>
        </p:blipFill>
        <p:spPr>
          <a:xfrm>
            <a:off x="0" y="0"/>
            <a:ext cx="12192000" cy="6858001"/>
          </a:xfrm>
          <a:prstGeom prst="rect">
            <a:avLst/>
          </a:prstGeom>
          <a:noFill/>
          <a:ln>
            <a:noFill/>
          </a:ln>
        </p:spPr>
      </p:pic>
      <p:sp>
        <p:nvSpPr>
          <p:cNvPr id="156" name="Google Shape;156;p20"/>
          <p:cNvSpPr txBox="1"/>
          <p:nvPr/>
        </p:nvSpPr>
        <p:spPr>
          <a:xfrm>
            <a:off x="287867" y="262467"/>
            <a:ext cx="983826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DESCOBERTA</a:t>
            </a:r>
            <a:endParaRPr/>
          </a:p>
        </p:txBody>
      </p:sp>
      <p:sp>
        <p:nvSpPr>
          <p:cNvPr id="157" name="Google Shape;157;p20"/>
          <p:cNvSpPr txBox="1"/>
          <p:nvPr/>
        </p:nvSpPr>
        <p:spPr>
          <a:xfrm>
            <a:off x="287875" y="1176875"/>
            <a:ext cx="11379300" cy="4263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pt-BR" sz="1800">
                <a:solidFill>
                  <a:schemeClr val="dk1"/>
                </a:solidFill>
              </a:rPr>
              <a:t>Os três principais desafios enfrentados no desenvolvimento do projeto</a:t>
            </a:r>
            <a:endParaRPr b="1" sz="1800">
              <a:solidFill>
                <a:schemeClr val="dk1"/>
              </a:solidFill>
            </a:endParaRPr>
          </a:p>
          <a:p>
            <a:pPr indent="0" lvl="0" marL="0" rtl="0" algn="l">
              <a:lnSpc>
                <a:spcPct val="115000"/>
              </a:lnSpc>
              <a:spcBef>
                <a:spcPts val="0"/>
              </a:spcBef>
              <a:spcAft>
                <a:spcPts val="0"/>
              </a:spcAft>
              <a:buSzPts val="1100"/>
              <a:buNone/>
            </a:pPr>
            <a:r>
              <a:t/>
            </a:r>
            <a:endParaRPr b="1" sz="1800">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1. Compreensão e organização dos dados</a:t>
            </a:r>
            <a:endParaRPr b="1" sz="1800">
              <a:solidFill>
                <a:schemeClr val="dk1"/>
              </a:solidFill>
            </a:endParaRPr>
          </a:p>
          <a:p>
            <a:pPr indent="0" lvl="0" marL="0" rtl="0" algn="l">
              <a:lnSpc>
                <a:spcPct val="115000"/>
              </a:lnSpc>
              <a:spcBef>
                <a:spcPts val="0"/>
              </a:spcBef>
              <a:spcAft>
                <a:spcPts val="0"/>
              </a:spcAft>
              <a:buSzPts val="1100"/>
              <a:buNone/>
            </a:pPr>
            <a:r>
              <a:rPr lang="pt-BR">
                <a:solidFill>
                  <a:schemeClr val="dk1"/>
                </a:solidFill>
              </a:rPr>
              <a:t>Compreender a estrutura do dataset, composto por 114.000 registros e 21 colunas, e identificar as variáveis relevantes para cada pergunta. Para isso, utilizamos o Pandas na seleção, filtragem e agrupamento das informações.</a:t>
            </a:r>
            <a:endParaRPr>
              <a:solidFill>
                <a:schemeClr val="dk1"/>
              </a:solidFill>
            </a:endParaRPr>
          </a:p>
          <a:p>
            <a:pPr indent="0" lvl="0" marL="0" rtl="0" algn="l">
              <a:lnSpc>
                <a:spcPct val="115000"/>
              </a:lnSpc>
              <a:spcBef>
                <a:spcPts val="0"/>
              </a:spcBef>
              <a:spcAft>
                <a:spcPts val="0"/>
              </a:spcAft>
              <a:buSzPts val="1100"/>
              <a:buNone/>
            </a:pPr>
            <a:r>
              <a:t/>
            </a:r>
            <a:endParaRPr b="1" sz="1800">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2. Aplicação dos conhecimentos em Python</a:t>
            </a:r>
            <a:endParaRPr b="1" sz="1800">
              <a:solidFill>
                <a:schemeClr val="dk1"/>
              </a:solidFill>
            </a:endParaRPr>
          </a:p>
          <a:p>
            <a:pPr indent="0" lvl="0" marL="0" rtl="0" algn="l">
              <a:lnSpc>
                <a:spcPct val="115000"/>
              </a:lnSpc>
              <a:spcBef>
                <a:spcPts val="0"/>
              </a:spcBef>
              <a:spcAft>
                <a:spcPts val="0"/>
              </a:spcAft>
              <a:buSzPts val="1100"/>
              <a:buNone/>
            </a:pPr>
            <a:r>
              <a:rPr lang="pt-BR">
                <a:solidFill>
                  <a:schemeClr val="dk1"/>
                </a:solidFill>
              </a:rPr>
              <a:t>Transformar as 10 perguntas de pesquisa que elaboramos em análises utilizando Python, aplicando filtros, agrupamentos e cálculos estatísticos com Pandas. Nesse processo, enfrentamos dificuldades para comparar a popularidade entre gêneros musicais e interpretar corretamente as correlações entre as variáveis.</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3. Visualização e interpretação dos resultados</a:t>
            </a:r>
            <a:endParaRPr b="1" sz="1800">
              <a:solidFill>
                <a:schemeClr val="dk1"/>
              </a:solidFill>
            </a:endParaRPr>
          </a:p>
          <a:p>
            <a:pPr indent="0" lvl="0" marL="0" rtl="0" algn="l">
              <a:lnSpc>
                <a:spcPct val="115000"/>
              </a:lnSpc>
              <a:spcBef>
                <a:spcPts val="0"/>
              </a:spcBef>
              <a:spcAft>
                <a:spcPts val="0"/>
              </a:spcAft>
              <a:buSzPts val="1100"/>
              <a:buNone/>
            </a:pPr>
            <a:r>
              <a:rPr lang="pt-BR">
                <a:solidFill>
                  <a:schemeClr val="dk1"/>
                </a:solidFill>
              </a:rPr>
              <a:t>Escolher representações gráficas adequadas com Matplotlib e Seaborn, facilitando a comparação entre gêneros e atributos musicais. Além disso, interpretar corretamente os resultados, especialmente diante de correlações fracas.</a:t>
            </a:r>
            <a:endParaRPr>
              <a:solidFill>
                <a:schemeClr val="dk1"/>
              </a:solidFill>
            </a:endParaRPr>
          </a:p>
          <a:p>
            <a:pPr indent="0" lvl="0" marL="0" marR="0" rtl="0" algn="l">
              <a:spcBef>
                <a:spcPts val="0"/>
              </a:spcBef>
              <a:spcAft>
                <a:spcPts val="0"/>
              </a:spcAft>
              <a:buNone/>
            </a:pPr>
            <a:r>
              <a:t/>
            </a:r>
            <a:endParaRPr sz="1800">
              <a:solidFill>
                <a:srgbClr val="0070C0"/>
              </a:solidFill>
              <a:latin typeface="Calibri"/>
              <a:ea typeface="Calibri"/>
              <a:cs typeface="Calibri"/>
              <a:sym typeface="Calibri"/>
            </a:endParaRPr>
          </a:p>
        </p:txBody>
      </p:sp>
      <p:pic>
        <p:nvPicPr>
          <p:cNvPr id="158" name="Google Shape;158;p20"/>
          <p:cNvPicPr preferRelativeResize="0"/>
          <p:nvPr/>
        </p:nvPicPr>
        <p:blipFill rotWithShape="1">
          <a:blip r:embed="rId4">
            <a:alphaModFix/>
          </a:blip>
          <a:srcRect b="0" l="0" r="0" t="0"/>
          <a:stretch/>
        </p:blipFill>
        <p:spPr>
          <a:xfrm>
            <a:off x="10283778" y="29998"/>
            <a:ext cx="1835244" cy="15113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4" name="Google Shape;164;p21"/>
          <p:cNvSpPr txBox="1"/>
          <p:nvPr/>
        </p:nvSpPr>
        <p:spPr>
          <a:xfrm>
            <a:off x="1176892" y="2255217"/>
            <a:ext cx="9838200" cy="16686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1200"/>
              </a:spcBef>
              <a:spcAft>
                <a:spcPts val="0"/>
              </a:spcAft>
              <a:buClr>
                <a:schemeClr val="dk1"/>
              </a:buClr>
              <a:buSzPts val="1100"/>
              <a:buFont typeface="Arial"/>
              <a:buNone/>
            </a:pPr>
            <a:r>
              <a:rPr b="1" lang="pt-BR" sz="2800">
                <a:solidFill>
                  <a:schemeClr val="dk1"/>
                </a:solidFill>
                <a:latin typeface="Calibri"/>
                <a:ea typeface="Calibri"/>
                <a:cs typeface="Calibri"/>
                <a:sym typeface="Calibri"/>
              </a:rPr>
              <a:t>As perguntas apresentadas a seguir fazem parte do projeto, porém não serão abordadas durante a apresentação oral.</a:t>
            </a:r>
            <a:endParaRPr b="1" sz="28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b="1" sz="2800">
              <a:solidFill>
                <a:schemeClr val="dk1"/>
              </a:solidFill>
              <a:latin typeface="Calibri"/>
              <a:ea typeface="Calibri"/>
              <a:cs typeface="Calibri"/>
              <a:sym typeface="Calibri"/>
            </a:endParaRPr>
          </a:p>
        </p:txBody>
      </p:sp>
      <p:sp>
        <p:nvSpPr>
          <p:cNvPr id="165" name="Google Shape;165;p21"/>
          <p:cNvSpPr txBox="1"/>
          <p:nvPr/>
        </p:nvSpPr>
        <p:spPr>
          <a:xfrm>
            <a:off x="1266300" y="2514350"/>
            <a:ext cx="11379300" cy="617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t/>
            </a:r>
            <a:endParaRPr>
              <a:solidFill>
                <a:schemeClr val="dk1"/>
              </a:solidFill>
            </a:endParaRPr>
          </a:p>
          <a:p>
            <a:pPr indent="0" lvl="0" marL="0" marR="0" rtl="0" algn="l">
              <a:spcBef>
                <a:spcPts val="0"/>
              </a:spcBef>
              <a:spcAft>
                <a:spcPts val="0"/>
              </a:spcAft>
              <a:buNone/>
            </a:pPr>
            <a:r>
              <a:t/>
            </a:r>
            <a:endParaRPr sz="1800">
              <a:solidFill>
                <a:srgbClr val="0070C0"/>
              </a:solidFill>
              <a:latin typeface="Calibri"/>
              <a:ea typeface="Calibri"/>
              <a:cs typeface="Calibri"/>
              <a:sym typeface="Calibri"/>
            </a:endParaRPr>
          </a:p>
        </p:txBody>
      </p:sp>
      <p:pic>
        <p:nvPicPr>
          <p:cNvPr id="166" name="Google Shape;166;p21"/>
          <p:cNvPicPr preferRelativeResize="0"/>
          <p:nvPr/>
        </p:nvPicPr>
        <p:blipFill rotWithShape="1">
          <a:blip r:embed="rId4">
            <a:alphaModFix/>
          </a:blip>
          <a:srcRect b="0" l="0" r="0" t="0"/>
          <a:stretch/>
        </p:blipFill>
        <p:spPr>
          <a:xfrm>
            <a:off x="10283778" y="29998"/>
            <a:ext cx="1835244" cy="15113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2" name="Google Shape;172;p22"/>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ANÁLISE E DIVULGAÇÃO</a:t>
            </a:r>
            <a:endParaRPr/>
          </a:p>
        </p:txBody>
      </p:sp>
      <p:sp>
        <p:nvSpPr>
          <p:cNvPr id="173" name="Google Shape;173;p22"/>
          <p:cNvSpPr txBox="1"/>
          <p:nvPr/>
        </p:nvSpPr>
        <p:spPr>
          <a:xfrm>
            <a:off x="287867" y="785687"/>
            <a:ext cx="11379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rPr>
              <a:t>Pergunta 6: Músicas com maior valência musical apresentam popularidade </a:t>
            </a:r>
            <a:endParaRPr b="1" sz="1800">
              <a:solidFill>
                <a:schemeClr val="dk1"/>
              </a:solidFill>
            </a:endParaRPr>
          </a:p>
          <a:p>
            <a:pPr indent="0" lvl="0" marL="0" marR="0" rtl="0" algn="l">
              <a:spcBef>
                <a:spcPts val="0"/>
              </a:spcBef>
              <a:spcAft>
                <a:spcPts val="0"/>
              </a:spcAft>
              <a:buNone/>
            </a:pPr>
            <a:r>
              <a:rPr b="1" lang="pt-BR" sz="1800">
                <a:solidFill>
                  <a:schemeClr val="dk1"/>
                </a:solidFill>
              </a:rPr>
              <a:t>diferente das músicas com menor valência ?</a:t>
            </a:r>
            <a:endParaRPr b="1" sz="1800">
              <a:solidFill>
                <a:schemeClr val="dk1"/>
              </a:solidFill>
            </a:endParaRPr>
          </a:p>
        </p:txBody>
      </p:sp>
      <p:pic>
        <p:nvPicPr>
          <p:cNvPr id="174" name="Google Shape;174;p22"/>
          <p:cNvPicPr preferRelativeResize="0"/>
          <p:nvPr/>
        </p:nvPicPr>
        <p:blipFill rotWithShape="1">
          <a:blip r:embed="rId4">
            <a:alphaModFix/>
          </a:blip>
          <a:srcRect b="0" l="0" r="0" t="0"/>
          <a:stretch/>
        </p:blipFill>
        <p:spPr>
          <a:xfrm>
            <a:off x="9029538" y="0"/>
            <a:ext cx="1714588" cy="1479626"/>
          </a:xfrm>
          <a:prstGeom prst="rect">
            <a:avLst/>
          </a:prstGeom>
          <a:noFill/>
          <a:ln>
            <a:noFill/>
          </a:ln>
        </p:spPr>
      </p:pic>
      <p:pic>
        <p:nvPicPr>
          <p:cNvPr id="175" name="Google Shape;175;p22"/>
          <p:cNvPicPr preferRelativeResize="0"/>
          <p:nvPr/>
        </p:nvPicPr>
        <p:blipFill rotWithShape="1">
          <a:blip r:embed="rId5">
            <a:alphaModFix/>
          </a:blip>
          <a:srcRect b="0" l="0" r="0" t="0"/>
          <a:stretch/>
        </p:blipFill>
        <p:spPr>
          <a:xfrm>
            <a:off x="10744126" y="46742"/>
            <a:ext cx="1447874" cy="1466925"/>
          </a:xfrm>
          <a:prstGeom prst="rect">
            <a:avLst/>
          </a:prstGeom>
          <a:noFill/>
          <a:ln>
            <a:noFill/>
          </a:ln>
        </p:spPr>
      </p:pic>
      <p:pic>
        <p:nvPicPr>
          <p:cNvPr id="176" name="Google Shape;176;p22"/>
          <p:cNvPicPr preferRelativeResize="0"/>
          <p:nvPr/>
        </p:nvPicPr>
        <p:blipFill>
          <a:blip r:embed="rId6">
            <a:alphaModFix/>
          </a:blip>
          <a:stretch>
            <a:fillRect/>
          </a:stretch>
        </p:blipFill>
        <p:spPr>
          <a:xfrm>
            <a:off x="582476" y="1513679"/>
            <a:ext cx="5509375" cy="4219100"/>
          </a:xfrm>
          <a:prstGeom prst="rect">
            <a:avLst/>
          </a:prstGeom>
          <a:noFill/>
          <a:ln>
            <a:noFill/>
          </a:ln>
        </p:spPr>
      </p:pic>
      <p:sp>
        <p:nvSpPr>
          <p:cNvPr id="177" name="Google Shape;177;p22"/>
          <p:cNvSpPr txBox="1"/>
          <p:nvPr/>
        </p:nvSpPr>
        <p:spPr>
          <a:xfrm>
            <a:off x="6472025" y="2177700"/>
            <a:ext cx="4693800" cy="303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pt-BR">
                <a:solidFill>
                  <a:schemeClr val="dk1"/>
                </a:solidFill>
              </a:rPr>
              <a:t>A análise revelou que músicas com menor valência apresentam popularidade média de 34,24 pontos, superando em 2,01 pontos aquelas com sonoridade mais positiva (32,23). Esse resultado indica que priorizar músicas alegres não garante maior popularidade. Portanto, plataformas de streaming e produtores musicais não devem utilizar a valência como critério isolado para selecionar ou recomendar faixas, pois músicas com diferentes características emocionais podem alcançar níveis semelhantes de popularidade.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3"/>
          <p:cNvPicPr preferRelativeResize="0"/>
          <p:nvPr/>
        </p:nvPicPr>
        <p:blipFill rotWithShape="1">
          <a:blip r:embed="rId3">
            <a:alphaModFix/>
          </a:blip>
          <a:srcRect b="0" l="0" r="0" t="0"/>
          <a:stretch/>
        </p:blipFill>
        <p:spPr>
          <a:xfrm>
            <a:off x="35925" y="0"/>
            <a:ext cx="12192000" cy="6858000"/>
          </a:xfrm>
          <a:prstGeom prst="rect">
            <a:avLst/>
          </a:prstGeom>
          <a:noFill/>
          <a:ln>
            <a:noFill/>
          </a:ln>
        </p:spPr>
      </p:pic>
      <p:pic>
        <p:nvPicPr>
          <p:cNvPr id="183" name="Google Shape;183;p23"/>
          <p:cNvPicPr preferRelativeResize="0"/>
          <p:nvPr/>
        </p:nvPicPr>
        <p:blipFill rotWithShape="1">
          <a:blip r:embed="rId4">
            <a:alphaModFix/>
          </a:blip>
          <a:srcRect b="0" l="0" r="0" t="0"/>
          <a:stretch/>
        </p:blipFill>
        <p:spPr>
          <a:xfrm>
            <a:off x="8349630" y="0"/>
            <a:ext cx="1949550" cy="1435174"/>
          </a:xfrm>
          <a:prstGeom prst="rect">
            <a:avLst/>
          </a:prstGeom>
          <a:noFill/>
          <a:ln>
            <a:noFill/>
          </a:ln>
        </p:spPr>
      </p:pic>
      <p:sp>
        <p:nvSpPr>
          <p:cNvPr id="184" name="Google Shape;184;p23"/>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CONSCIENTIZAÇÃO E COMPREENSÃO</a:t>
            </a:r>
            <a:endParaRPr/>
          </a:p>
        </p:txBody>
      </p:sp>
      <p:sp>
        <p:nvSpPr>
          <p:cNvPr id="185" name="Google Shape;185;p23"/>
          <p:cNvSpPr txBox="1"/>
          <p:nvPr/>
        </p:nvSpPr>
        <p:spPr>
          <a:xfrm>
            <a:off x="287875" y="785675"/>
            <a:ext cx="11379300" cy="687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pt-BR" sz="1800">
                <a:solidFill>
                  <a:schemeClr val="dk1"/>
                </a:solidFill>
              </a:rPr>
              <a:t>Pergunta 7: </a:t>
            </a:r>
            <a:r>
              <a:rPr b="1" lang="pt-BR" sz="1800">
                <a:solidFill>
                  <a:schemeClr val="dk1"/>
                </a:solidFill>
              </a:rPr>
              <a:t>Músicas mais curtas são realmente mais populares ou existe</a:t>
            </a:r>
            <a:endParaRPr b="1" sz="1800">
              <a:solidFill>
                <a:schemeClr val="dk1"/>
              </a:solidFill>
            </a:endParaRPr>
          </a:p>
          <a:p>
            <a:pPr indent="0" lvl="0" marL="0" rtl="0" algn="l">
              <a:lnSpc>
                <a:spcPct val="115000"/>
              </a:lnSpc>
              <a:spcBef>
                <a:spcPts val="0"/>
              </a:spcBef>
              <a:spcAft>
                <a:spcPts val="0"/>
              </a:spcAft>
              <a:buSzPts val="1100"/>
              <a:buNone/>
            </a:pPr>
            <a:r>
              <a:rPr b="1" lang="pt-BR" sz="1800">
                <a:solidFill>
                  <a:schemeClr val="dk1"/>
                </a:solidFill>
              </a:rPr>
              <a:t>uma faixa de duração que se destaca em relação às demais?</a:t>
            </a:r>
            <a:endParaRPr sz="1800">
              <a:solidFill>
                <a:srgbClr val="0070C0"/>
              </a:solidFill>
            </a:endParaRPr>
          </a:p>
        </p:txBody>
      </p:sp>
      <p:pic>
        <p:nvPicPr>
          <p:cNvPr id="186" name="Google Shape;186;p23"/>
          <p:cNvPicPr preferRelativeResize="0"/>
          <p:nvPr/>
        </p:nvPicPr>
        <p:blipFill rotWithShape="1">
          <a:blip r:embed="rId5">
            <a:alphaModFix/>
          </a:blip>
          <a:srcRect b="0" l="0" r="0" t="0"/>
          <a:stretch/>
        </p:blipFill>
        <p:spPr>
          <a:xfrm>
            <a:off x="10588542" y="0"/>
            <a:ext cx="1257365" cy="1670136"/>
          </a:xfrm>
          <a:prstGeom prst="rect">
            <a:avLst/>
          </a:prstGeom>
          <a:noFill/>
          <a:ln>
            <a:noFill/>
          </a:ln>
        </p:spPr>
      </p:pic>
      <p:pic>
        <p:nvPicPr>
          <p:cNvPr id="187" name="Google Shape;187;p23"/>
          <p:cNvPicPr preferRelativeResize="0"/>
          <p:nvPr/>
        </p:nvPicPr>
        <p:blipFill>
          <a:blip r:embed="rId6">
            <a:alphaModFix/>
          </a:blip>
          <a:stretch>
            <a:fillRect/>
          </a:stretch>
        </p:blipFill>
        <p:spPr>
          <a:xfrm>
            <a:off x="591150" y="1670125"/>
            <a:ext cx="7687699" cy="4182875"/>
          </a:xfrm>
          <a:prstGeom prst="rect">
            <a:avLst/>
          </a:prstGeom>
          <a:noFill/>
          <a:ln>
            <a:noFill/>
          </a:ln>
        </p:spPr>
      </p:pic>
      <p:sp>
        <p:nvSpPr>
          <p:cNvPr id="188" name="Google Shape;188;p23"/>
          <p:cNvSpPr txBox="1"/>
          <p:nvPr/>
        </p:nvSpPr>
        <p:spPr>
          <a:xfrm>
            <a:off x="8735600" y="2074513"/>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solidFill>
                <a:schemeClr val="dk1"/>
              </a:solidFill>
            </a:endParaRPr>
          </a:p>
        </p:txBody>
      </p:sp>
      <p:sp>
        <p:nvSpPr>
          <p:cNvPr id="189" name="Google Shape;189;p23"/>
          <p:cNvSpPr txBox="1"/>
          <p:nvPr/>
        </p:nvSpPr>
        <p:spPr>
          <a:xfrm>
            <a:off x="8527625" y="1989175"/>
            <a:ext cx="4280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solidFill>
                <a:schemeClr val="dk1"/>
              </a:solidFill>
            </a:endParaRPr>
          </a:p>
        </p:txBody>
      </p:sp>
      <p:sp>
        <p:nvSpPr>
          <p:cNvPr id="190" name="Google Shape;190;p23"/>
          <p:cNvSpPr txBox="1"/>
          <p:nvPr/>
        </p:nvSpPr>
        <p:spPr>
          <a:xfrm>
            <a:off x="8349625" y="1826725"/>
            <a:ext cx="3535800" cy="3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pt-BR">
                <a:solidFill>
                  <a:schemeClr val="dk1"/>
                </a:solidFill>
              </a:rPr>
              <a:t>A análise demonstrou que músicas com duração entre 4 e 5 minutos apresentam a maior popularidade média (34,73 pontos), seguidas pelas faixas de 3 a 4 minutos (34,68 pontos). Em contrapartida, aquelas com menos de 2 minutos registraram a menor média (28,40 pontos). Portanto, músicas de duração intermediária se destacam em popularidade, indicando que faixas mais curtas não possuem necessariamente maior aceitação. Para produtores musicais, os resultados sugerem que reduzir a duração das músicas não garante melhor desempenho nas plataformas de streaming.</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6" name="Google Shape;196;p24"/>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ANÁLISE E DIVULGAÇÃO</a:t>
            </a:r>
            <a:endParaRPr/>
          </a:p>
        </p:txBody>
      </p:sp>
      <p:sp>
        <p:nvSpPr>
          <p:cNvPr id="197" name="Google Shape;197;p24"/>
          <p:cNvSpPr txBox="1"/>
          <p:nvPr/>
        </p:nvSpPr>
        <p:spPr>
          <a:xfrm>
            <a:off x="287867" y="785687"/>
            <a:ext cx="11379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rPr>
              <a:t>Pergunta 8: </a:t>
            </a:r>
            <a:r>
              <a:rPr b="1" lang="pt-BR" sz="1800">
                <a:solidFill>
                  <a:schemeClr val="dk1"/>
                </a:solidFill>
              </a:rPr>
              <a:t>Músicas com conteúdo explícito apresentam popularidade </a:t>
            </a:r>
            <a:endParaRPr b="1" sz="1800">
              <a:solidFill>
                <a:schemeClr val="dk1"/>
              </a:solidFill>
            </a:endParaRPr>
          </a:p>
          <a:p>
            <a:pPr indent="0" lvl="0" marL="0" marR="0" rtl="0" algn="l">
              <a:spcBef>
                <a:spcPts val="0"/>
              </a:spcBef>
              <a:spcAft>
                <a:spcPts val="0"/>
              </a:spcAft>
              <a:buNone/>
            </a:pPr>
            <a:r>
              <a:rPr b="1" lang="pt-BR" sz="1800">
                <a:solidFill>
                  <a:schemeClr val="dk1"/>
                </a:solidFill>
              </a:rPr>
              <a:t>diferente das músicas sem conteúdo explícito?</a:t>
            </a:r>
            <a:endParaRPr b="1" sz="1800">
              <a:solidFill>
                <a:schemeClr val="dk1"/>
              </a:solidFill>
            </a:endParaRPr>
          </a:p>
        </p:txBody>
      </p:sp>
      <p:pic>
        <p:nvPicPr>
          <p:cNvPr id="198" name="Google Shape;198;p24"/>
          <p:cNvPicPr preferRelativeResize="0"/>
          <p:nvPr/>
        </p:nvPicPr>
        <p:blipFill rotWithShape="1">
          <a:blip r:embed="rId4">
            <a:alphaModFix/>
          </a:blip>
          <a:srcRect b="0" l="0" r="0" t="0"/>
          <a:stretch/>
        </p:blipFill>
        <p:spPr>
          <a:xfrm>
            <a:off x="9029538" y="0"/>
            <a:ext cx="1714588" cy="1479626"/>
          </a:xfrm>
          <a:prstGeom prst="rect">
            <a:avLst/>
          </a:prstGeom>
          <a:noFill/>
          <a:ln>
            <a:noFill/>
          </a:ln>
        </p:spPr>
      </p:pic>
      <p:pic>
        <p:nvPicPr>
          <p:cNvPr id="199" name="Google Shape;199;p24"/>
          <p:cNvPicPr preferRelativeResize="0"/>
          <p:nvPr/>
        </p:nvPicPr>
        <p:blipFill rotWithShape="1">
          <a:blip r:embed="rId5">
            <a:alphaModFix/>
          </a:blip>
          <a:srcRect b="0" l="0" r="0" t="0"/>
          <a:stretch/>
        </p:blipFill>
        <p:spPr>
          <a:xfrm>
            <a:off x="10744126" y="46742"/>
            <a:ext cx="1447874" cy="1466925"/>
          </a:xfrm>
          <a:prstGeom prst="rect">
            <a:avLst/>
          </a:prstGeom>
          <a:noFill/>
          <a:ln>
            <a:noFill/>
          </a:ln>
        </p:spPr>
      </p:pic>
      <p:pic>
        <p:nvPicPr>
          <p:cNvPr id="200" name="Google Shape;200;p24"/>
          <p:cNvPicPr preferRelativeResize="0"/>
          <p:nvPr/>
        </p:nvPicPr>
        <p:blipFill>
          <a:blip r:embed="rId6">
            <a:alphaModFix/>
          </a:blip>
          <a:stretch>
            <a:fillRect/>
          </a:stretch>
        </p:blipFill>
        <p:spPr>
          <a:xfrm>
            <a:off x="690150" y="1513677"/>
            <a:ext cx="5238400" cy="4209100"/>
          </a:xfrm>
          <a:prstGeom prst="rect">
            <a:avLst/>
          </a:prstGeom>
          <a:noFill/>
          <a:ln>
            <a:noFill/>
          </a:ln>
        </p:spPr>
      </p:pic>
      <p:sp>
        <p:nvSpPr>
          <p:cNvPr id="201" name="Google Shape;201;p24"/>
          <p:cNvSpPr txBox="1"/>
          <p:nvPr/>
        </p:nvSpPr>
        <p:spPr>
          <a:xfrm>
            <a:off x="6481000" y="2142500"/>
            <a:ext cx="4173000" cy="287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pt-BR">
                <a:solidFill>
                  <a:schemeClr val="dk1"/>
                </a:solidFill>
              </a:rPr>
              <a:t>Conclui-se que músicas com conteúdo explícito apresentam maior popularidade média (36,45 pontos) em comparação às não explícitas (32,94 pontos), com uma diferença de 3,52 pontos. Esse resultado demonstra que a presença de linguagem adulta não impede que uma faixa alcance maior popularidade. Pelo contrário, no conjunto analisado, as músicas classificadas como explícitas apresentam melhor desempenho médio, embora isso não comprove que esse conteúdo seja responsável por sua popularidade.</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7" name="Google Shape;207;p25"/>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ANÁLISE E DIVULGAÇÃO</a:t>
            </a:r>
            <a:endParaRPr/>
          </a:p>
        </p:txBody>
      </p:sp>
      <p:sp>
        <p:nvSpPr>
          <p:cNvPr id="208" name="Google Shape;208;p25"/>
          <p:cNvSpPr txBox="1"/>
          <p:nvPr/>
        </p:nvSpPr>
        <p:spPr>
          <a:xfrm>
            <a:off x="287867" y="785687"/>
            <a:ext cx="11379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rPr>
              <a:t>Pergunta 9: </a:t>
            </a:r>
            <a:r>
              <a:rPr b="1" lang="pt-BR" sz="1800">
                <a:solidFill>
                  <a:schemeClr val="dk1"/>
                </a:solidFill>
              </a:rPr>
              <a:t>Existe relação entre o volume percebido da música e sua </a:t>
            </a:r>
            <a:endParaRPr b="1" sz="1800">
              <a:solidFill>
                <a:schemeClr val="dk1"/>
              </a:solidFill>
            </a:endParaRPr>
          </a:p>
          <a:p>
            <a:pPr indent="0" lvl="0" marL="0" marR="0" rtl="0" algn="l">
              <a:spcBef>
                <a:spcPts val="0"/>
              </a:spcBef>
              <a:spcAft>
                <a:spcPts val="0"/>
              </a:spcAft>
              <a:buNone/>
            </a:pPr>
            <a:r>
              <a:rPr b="1" lang="pt-BR" sz="1800">
                <a:solidFill>
                  <a:schemeClr val="dk1"/>
                </a:solidFill>
              </a:rPr>
              <a:t>popularidade?</a:t>
            </a:r>
            <a:endParaRPr b="1" sz="1800">
              <a:solidFill>
                <a:schemeClr val="dk1"/>
              </a:solidFill>
            </a:endParaRPr>
          </a:p>
        </p:txBody>
      </p:sp>
      <p:pic>
        <p:nvPicPr>
          <p:cNvPr id="209" name="Google Shape;209;p25"/>
          <p:cNvPicPr preferRelativeResize="0"/>
          <p:nvPr/>
        </p:nvPicPr>
        <p:blipFill rotWithShape="1">
          <a:blip r:embed="rId4">
            <a:alphaModFix/>
          </a:blip>
          <a:srcRect b="0" l="0" r="0" t="0"/>
          <a:stretch/>
        </p:blipFill>
        <p:spPr>
          <a:xfrm>
            <a:off x="9029538" y="0"/>
            <a:ext cx="1714588" cy="1479626"/>
          </a:xfrm>
          <a:prstGeom prst="rect">
            <a:avLst/>
          </a:prstGeom>
          <a:noFill/>
          <a:ln>
            <a:noFill/>
          </a:ln>
        </p:spPr>
      </p:pic>
      <p:pic>
        <p:nvPicPr>
          <p:cNvPr id="210" name="Google Shape;210;p25"/>
          <p:cNvPicPr preferRelativeResize="0"/>
          <p:nvPr/>
        </p:nvPicPr>
        <p:blipFill rotWithShape="1">
          <a:blip r:embed="rId5">
            <a:alphaModFix/>
          </a:blip>
          <a:srcRect b="0" l="0" r="0" t="0"/>
          <a:stretch/>
        </p:blipFill>
        <p:spPr>
          <a:xfrm>
            <a:off x="10744126" y="46742"/>
            <a:ext cx="1447874" cy="1466925"/>
          </a:xfrm>
          <a:prstGeom prst="rect">
            <a:avLst/>
          </a:prstGeom>
          <a:noFill/>
          <a:ln>
            <a:noFill/>
          </a:ln>
        </p:spPr>
      </p:pic>
      <p:pic>
        <p:nvPicPr>
          <p:cNvPr id="211" name="Google Shape;211;p25"/>
          <p:cNvPicPr preferRelativeResize="0"/>
          <p:nvPr/>
        </p:nvPicPr>
        <p:blipFill>
          <a:blip r:embed="rId6">
            <a:alphaModFix/>
          </a:blip>
          <a:stretch>
            <a:fillRect/>
          </a:stretch>
        </p:blipFill>
        <p:spPr>
          <a:xfrm>
            <a:off x="779925" y="1609725"/>
            <a:ext cx="5273750" cy="4123276"/>
          </a:xfrm>
          <a:prstGeom prst="rect">
            <a:avLst/>
          </a:prstGeom>
          <a:noFill/>
          <a:ln>
            <a:noFill/>
          </a:ln>
        </p:spPr>
      </p:pic>
      <p:sp>
        <p:nvSpPr>
          <p:cNvPr id="212" name="Google Shape;212;p25"/>
          <p:cNvSpPr txBox="1"/>
          <p:nvPr/>
        </p:nvSpPr>
        <p:spPr>
          <a:xfrm>
            <a:off x="6364300" y="2267450"/>
            <a:ext cx="4630800" cy="228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pt-BR" sz="1200">
                <a:solidFill>
                  <a:schemeClr val="dk1"/>
                </a:solidFill>
              </a:rPr>
              <a:t>Conclui-se que existe uma relação positiva, porém muito fraca, entre a intensidade sonora e a popularidade das músicas, com correlação de aproximadamente 0,05. Isso significa que faixas com maior intensidade sonora apresentam uma tendência mínima de maior popularidade, mas essa característica não representa uma vantagem expressiva. Portanto, músicas mais intensas não são necessariamente mais populares, demonstrando que aumentar o nível sonoro, isoladamente, não constitui uma estratégia eficaz para </a:t>
            </a:r>
            <a:r>
              <a:rPr lang="pt-BR" sz="1200">
                <a:solidFill>
                  <a:schemeClr val="dk1"/>
                </a:solidFill>
              </a:rPr>
              <a:t>alcançar maior popularidade nas plataformas de streaming.</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8" name="Google Shape;218;p26"/>
          <p:cNvSpPr txBox="1"/>
          <p:nvPr/>
        </p:nvSpPr>
        <p:spPr>
          <a:xfrm>
            <a:off x="287867" y="262467"/>
            <a:ext cx="9838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800">
                <a:solidFill>
                  <a:schemeClr val="dk1"/>
                </a:solidFill>
                <a:latin typeface="Calibri"/>
                <a:ea typeface="Calibri"/>
                <a:cs typeface="Calibri"/>
                <a:sym typeface="Calibri"/>
              </a:rPr>
              <a:t>ANÁLISE E DIVULGAÇÃO</a:t>
            </a:r>
            <a:endParaRPr/>
          </a:p>
        </p:txBody>
      </p:sp>
      <p:sp>
        <p:nvSpPr>
          <p:cNvPr id="219" name="Google Shape;219;p26"/>
          <p:cNvSpPr txBox="1"/>
          <p:nvPr/>
        </p:nvSpPr>
        <p:spPr>
          <a:xfrm>
            <a:off x="287867" y="785687"/>
            <a:ext cx="11379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rPr>
              <a:t>Pergunta 10: </a:t>
            </a:r>
            <a:r>
              <a:rPr b="1" lang="pt-BR" sz="1800">
                <a:solidFill>
                  <a:schemeClr val="dk1"/>
                </a:solidFill>
              </a:rPr>
              <a:t>Quais gêneros musicais apresentam os maiores e menores </a:t>
            </a:r>
            <a:endParaRPr b="1" sz="1800">
              <a:solidFill>
                <a:schemeClr val="dk1"/>
              </a:solidFill>
            </a:endParaRPr>
          </a:p>
          <a:p>
            <a:pPr indent="0" lvl="0" marL="0" marR="0" rtl="0" algn="l">
              <a:spcBef>
                <a:spcPts val="0"/>
              </a:spcBef>
              <a:spcAft>
                <a:spcPts val="0"/>
              </a:spcAft>
              <a:buNone/>
            </a:pPr>
            <a:r>
              <a:rPr b="1" lang="pt-BR" sz="1800">
                <a:solidFill>
                  <a:schemeClr val="dk1"/>
                </a:solidFill>
              </a:rPr>
              <a:t>valores médios de andamento (BPM)?</a:t>
            </a:r>
            <a:endParaRPr b="1" sz="1800">
              <a:solidFill>
                <a:schemeClr val="dk1"/>
              </a:solidFill>
            </a:endParaRPr>
          </a:p>
        </p:txBody>
      </p:sp>
      <p:pic>
        <p:nvPicPr>
          <p:cNvPr id="220" name="Google Shape;220;p26"/>
          <p:cNvPicPr preferRelativeResize="0"/>
          <p:nvPr/>
        </p:nvPicPr>
        <p:blipFill rotWithShape="1">
          <a:blip r:embed="rId4">
            <a:alphaModFix/>
          </a:blip>
          <a:srcRect b="0" l="0" r="0" t="0"/>
          <a:stretch/>
        </p:blipFill>
        <p:spPr>
          <a:xfrm>
            <a:off x="9029538" y="0"/>
            <a:ext cx="1714588" cy="1479626"/>
          </a:xfrm>
          <a:prstGeom prst="rect">
            <a:avLst/>
          </a:prstGeom>
          <a:noFill/>
          <a:ln>
            <a:noFill/>
          </a:ln>
        </p:spPr>
      </p:pic>
      <p:pic>
        <p:nvPicPr>
          <p:cNvPr id="221" name="Google Shape;221;p26"/>
          <p:cNvPicPr preferRelativeResize="0"/>
          <p:nvPr/>
        </p:nvPicPr>
        <p:blipFill rotWithShape="1">
          <a:blip r:embed="rId5">
            <a:alphaModFix/>
          </a:blip>
          <a:srcRect b="0" l="0" r="0" t="0"/>
          <a:stretch/>
        </p:blipFill>
        <p:spPr>
          <a:xfrm>
            <a:off x="10744126" y="46742"/>
            <a:ext cx="1447874" cy="1466925"/>
          </a:xfrm>
          <a:prstGeom prst="rect">
            <a:avLst/>
          </a:prstGeom>
          <a:noFill/>
          <a:ln>
            <a:noFill/>
          </a:ln>
        </p:spPr>
      </p:pic>
      <p:pic>
        <p:nvPicPr>
          <p:cNvPr id="222" name="Google Shape;222;p26"/>
          <p:cNvPicPr preferRelativeResize="0"/>
          <p:nvPr/>
        </p:nvPicPr>
        <p:blipFill>
          <a:blip r:embed="rId6">
            <a:alphaModFix/>
          </a:blip>
          <a:stretch>
            <a:fillRect/>
          </a:stretch>
        </p:blipFill>
        <p:spPr>
          <a:xfrm>
            <a:off x="421389" y="1513675"/>
            <a:ext cx="5708525" cy="4371650"/>
          </a:xfrm>
          <a:prstGeom prst="rect">
            <a:avLst/>
          </a:prstGeom>
          <a:noFill/>
          <a:ln>
            <a:noFill/>
          </a:ln>
        </p:spPr>
      </p:pic>
      <p:sp>
        <p:nvSpPr>
          <p:cNvPr id="223" name="Google Shape;223;p26"/>
          <p:cNvSpPr txBox="1"/>
          <p:nvPr/>
        </p:nvSpPr>
        <p:spPr>
          <a:xfrm>
            <a:off x="6587725" y="2001750"/>
            <a:ext cx="4685700" cy="312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pt-BR">
                <a:solidFill>
                  <a:schemeClr val="dk1"/>
                </a:solidFill>
              </a:rPr>
              <a:t>A comparação dos andamentos médios indica que o drum-and-bass (155,24 BPM) possui um ritmo consideravelmente mais acelerado que o sleep (84,62 BPM), com diferença de 70,62 BPM. Essa variação pode influenciar a percepção de movimento e a adequação das músicas a diferentes atividades: ritmos mais rápidos podem favorecer ambientes de dança e exercícios físicos, enquanto os mais lentos tendem a ser associados ao relaxamento e ao descanso. Portanto, o andamento musical é um critério útil para diferenciar estilos e orientar a organização de playlists conforme a finalidade de escuta.</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7"/>
          <p:cNvPicPr preferRelativeResize="0"/>
          <p:nvPr/>
        </p:nvPicPr>
        <p:blipFill rotWithShape="1">
          <a:blip r:embed="rId3">
            <a:alphaModFix/>
          </a:blip>
          <a:srcRect b="0" l="0" r="0" t="0"/>
          <a:stretch/>
        </p:blipFill>
        <p:spPr>
          <a:xfrm>
            <a:off x="0" y="0"/>
            <a:ext cx="12192000" cy="6858001"/>
          </a:xfrm>
          <a:prstGeom prst="rect">
            <a:avLst/>
          </a:prstGeom>
          <a:noFill/>
          <a:ln>
            <a:noFill/>
          </a:ln>
        </p:spPr>
      </p:pic>
      <p:sp>
        <p:nvSpPr>
          <p:cNvPr id="229" name="Google Shape;229;p27"/>
          <p:cNvSpPr txBox="1"/>
          <p:nvPr/>
        </p:nvSpPr>
        <p:spPr>
          <a:xfrm>
            <a:off x="596899" y="2474893"/>
            <a:ext cx="109983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800">
                <a:solidFill>
                  <a:schemeClr val="dk1"/>
                </a:solidFill>
                <a:latin typeface="Calibri"/>
                <a:ea typeface="Calibri"/>
                <a:cs typeface="Calibri"/>
                <a:sym typeface="Calibri"/>
              </a:rPr>
              <a:t>Projeto I – C11</a:t>
            </a:r>
            <a:endParaRPr/>
          </a:p>
          <a:p>
            <a:pPr indent="0" lvl="0" marL="0" marR="0" rtl="0" algn="ctr">
              <a:spcBef>
                <a:spcPts val="0"/>
              </a:spcBef>
              <a:spcAft>
                <a:spcPts val="0"/>
              </a:spcAft>
              <a:buNone/>
            </a:pPr>
            <a:r>
              <a:rPr b="1" lang="pt-BR" sz="2800">
                <a:solidFill>
                  <a:schemeClr val="dk1"/>
                </a:solidFill>
                <a:latin typeface="Calibri"/>
                <a:ea typeface="Calibri"/>
                <a:cs typeface="Calibri"/>
                <a:sym typeface="Calibri"/>
              </a:rPr>
              <a:t>Apresentação dos Resultados</a:t>
            </a:r>
            <a:endParaRPr/>
          </a:p>
        </p:txBody>
      </p:sp>
      <p:sp>
        <p:nvSpPr>
          <p:cNvPr id="230" name="Google Shape;230;p27"/>
          <p:cNvSpPr txBox="1"/>
          <p:nvPr/>
        </p:nvSpPr>
        <p:spPr>
          <a:xfrm>
            <a:off x="3869265" y="3616806"/>
            <a:ext cx="4453500" cy="218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2800">
                <a:solidFill>
                  <a:schemeClr val="dk1"/>
                </a:solidFill>
                <a:latin typeface="Calibri"/>
                <a:ea typeface="Calibri"/>
                <a:cs typeface="Calibri"/>
                <a:sym typeface="Calibri"/>
              </a:rPr>
              <a:t>OBRIGADO!</a:t>
            </a:r>
            <a:endParaRPr sz="2800">
              <a:solidFill>
                <a:srgbClr val="0070C0"/>
              </a:solidFill>
              <a:latin typeface="Calibri"/>
              <a:ea typeface="Calibri"/>
              <a:cs typeface="Calibri"/>
              <a:sym typeface="Calibri"/>
            </a:endParaRPr>
          </a:p>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ctr">
              <a:spcBef>
                <a:spcPts val="0"/>
              </a:spcBef>
              <a:spcAft>
                <a:spcPts val="0"/>
              </a:spcAft>
              <a:buNone/>
            </a:pPr>
            <a:r>
              <a:rPr b="1" lang="pt-BR" sz="1800">
                <a:solidFill>
                  <a:schemeClr val="dk1"/>
                </a:solidFill>
                <a:latin typeface="Calibri"/>
                <a:ea typeface="Calibri"/>
                <a:cs typeface="Calibri"/>
                <a:sym typeface="Calibri"/>
              </a:rPr>
              <a:t>Equipe:</a:t>
            </a:r>
            <a:endParaRPr/>
          </a:p>
          <a:p>
            <a:pPr indent="0" lvl="0" marL="0" rtl="0" algn="ctr">
              <a:spcBef>
                <a:spcPts val="0"/>
              </a:spcBef>
              <a:spcAft>
                <a:spcPts val="0"/>
              </a:spcAft>
              <a:buClr>
                <a:schemeClr val="dk1"/>
              </a:buClr>
              <a:buFont typeface="Arial"/>
              <a:buNone/>
            </a:pPr>
            <a:r>
              <a:rPr lang="pt-BR" sz="1800">
                <a:solidFill>
                  <a:srgbClr val="0070C0"/>
                </a:solidFill>
                <a:latin typeface="Calibri"/>
                <a:ea typeface="Calibri"/>
                <a:cs typeface="Calibri"/>
                <a:sym typeface="Calibri"/>
              </a:rPr>
              <a:t>Mariana Moreira Souza – GEP– 152</a:t>
            </a:r>
            <a:endParaRPr>
              <a:solidFill>
                <a:schemeClr val="dk1"/>
              </a:solidFill>
            </a:endParaRPr>
          </a:p>
          <a:p>
            <a:pPr indent="0" lvl="0" marL="0" rtl="0" algn="ctr">
              <a:spcBef>
                <a:spcPts val="0"/>
              </a:spcBef>
              <a:spcAft>
                <a:spcPts val="0"/>
              </a:spcAft>
              <a:buClr>
                <a:schemeClr val="dk1"/>
              </a:buClr>
              <a:buFont typeface="Arial"/>
              <a:buNone/>
            </a:pPr>
            <a:r>
              <a:rPr lang="pt-BR" sz="1800">
                <a:solidFill>
                  <a:srgbClr val="0070C0"/>
                </a:solidFill>
                <a:latin typeface="Calibri"/>
                <a:ea typeface="Calibri"/>
                <a:cs typeface="Calibri"/>
                <a:sym typeface="Calibri"/>
              </a:rPr>
              <a:t>Matheus Henrique Ferreira Braz – GES – 636</a:t>
            </a:r>
            <a:endParaRPr>
              <a:solidFill>
                <a:schemeClr val="dk1"/>
              </a:solidFill>
            </a:endParaRPr>
          </a:p>
          <a:p>
            <a:pPr indent="0" lvl="0" marL="0" rtl="0" algn="ctr">
              <a:spcBef>
                <a:spcPts val="0"/>
              </a:spcBef>
              <a:spcAft>
                <a:spcPts val="0"/>
              </a:spcAft>
              <a:buClr>
                <a:schemeClr val="dk1"/>
              </a:buClr>
              <a:buFont typeface="Arial"/>
              <a:buNone/>
            </a:pPr>
            <a:r>
              <a:rPr lang="pt-BR" sz="1800">
                <a:solidFill>
                  <a:srgbClr val="0070C0"/>
                </a:solidFill>
                <a:latin typeface="Calibri"/>
                <a:ea typeface="Calibri"/>
                <a:cs typeface="Calibri"/>
                <a:sym typeface="Calibri"/>
              </a:rPr>
              <a:t>Yasmim Vasconcelos Leite – GES – 417</a:t>
            </a:r>
            <a:endParaRPr sz="1800">
              <a:solidFill>
                <a:srgbClr val="0070C0"/>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